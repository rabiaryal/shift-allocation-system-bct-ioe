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Open Sauce Bold" charset="1" panose="00000800000000000000"/>
      <p:regular r:id="rId56"/>
    </p:embeddedFont>
    <p:embeddedFont>
      <p:font typeface="Open Sauce" charset="1" panose="00000500000000000000"/>
      <p:regular r:id="rId57"/>
    </p:embeddedFont>
    <p:embeddedFont>
      <p:font typeface="Canva Sans" charset="1" panose="020B0503030501040103"/>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29.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680335" y="885825"/>
            <a:ext cx="12927331" cy="2477350"/>
          </a:xfrm>
          <a:prstGeom prst="rect">
            <a:avLst/>
          </a:prstGeom>
        </p:spPr>
        <p:txBody>
          <a:bodyPr anchor="t" rtlCol="false" tIns="0" lIns="0" bIns="0" rIns="0">
            <a:spAutoFit/>
          </a:bodyPr>
          <a:lstStyle/>
          <a:p>
            <a:pPr algn="ctr">
              <a:lnSpc>
                <a:spcPts val="9928"/>
              </a:lnSpc>
            </a:pPr>
            <a:r>
              <a:rPr lang="en-US" sz="7091" b="true">
                <a:solidFill>
                  <a:srgbClr val="000000"/>
                </a:solidFill>
                <a:latin typeface="Open Sauce Bold"/>
                <a:ea typeface="Open Sauce Bold"/>
                <a:cs typeface="Open Sauce Bold"/>
                <a:sym typeface="Open Sauce Bold"/>
              </a:rPr>
              <a:t>A PROJECT ON </a:t>
            </a:r>
          </a:p>
          <a:p>
            <a:pPr algn="ctr">
              <a:lnSpc>
                <a:spcPts val="9928"/>
              </a:lnSpc>
              <a:spcBef>
                <a:spcPct val="0"/>
              </a:spcBef>
            </a:pPr>
            <a:r>
              <a:rPr lang="en-US" b="true" sz="7091">
                <a:solidFill>
                  <a:srgbClr val="000000"/>
                </a:solidFill>
                <a:latin typeface="Open Sauce Bold"/>
                <a:ea typeface="Open Sauce Bold"/>
                <a:cs typeface="Open Sauce Bold"/>
                <a:sym typeface="Open Sauce Bold"/>
              </a:rPr>
              <a:t>SHIFT ALLOCATION SYSTEM</a:t>
            </a:r>
          </a:p>
        </p:txBody>
      </p:sp>
      <p:sp>
        <p:nvSpPr>
          <p:cNvPr name="TextBox 3" id="3"/>
          <p:cNvSpPr txBox="true"/>
          <p:nvPr/>
        </p:nvSpPr>
        <p:spPr>
          <a:xfrm rot="0">
            <a:off x="1028700" y="6138735"/>
            <a:ext cx="8150304" cy="3119565"/>
          </a:xfrm>
          <a:prstGeom prst="rect">
            <a:avLst/>
          </a:prstGeom>
        </p:spPr>
        <p:txBody>
          <a:bodyPr anchor="t" rtlCol="false" tIns="0" lIns="0" bIns="0" rIns="0">
            <a:spAutoFit/>
          </a:bodyPr>
          <a:lstStyle/>
          <a:p>
            <a:pPr algn="l">
              <a:lnSpc>
                <a:spcPts val="4980"/>
              </a:lnSpc>
            </a:pPr>
            <a:r>
              <a:rPr lang="en-US" sz="3557" u="sng">
                <a:solidFill>
                  <a:srgbClr val="000000"/>
                </a:solidFill>
                <a:latin typeface="Open Sauce"/>
                <a:ea typeface="Open Sauce"/>
                <a:cs typeface="Open Sauce"/>
                <a:sym typeface="Open Sauce"/>
              </a:rPr>
              <a:t>Presented By:</a:t>
            </a:r>
          </a:p>
          <a:p>
            <a:pPr algn="l">
              <a:lnSpc>
                <a:spcPts val="4980"/>
              </a:lnSpc>
            </a:pPr>
            <a:r>
              <a:rPr lang="en-US" sz="3557">
                <a:solidFill>
                  <a:srgbClr val="000000"/>
                </a:solidFill>
                <a:latin typeface="Open Sauce"/>
                <a:ea typeface="Open Sauce"/>
                <a:cs typeface="Open Sauce"/>
                <a:sym typeface="Open Sauce"/>
              </a:rPr>
              <a:t>Bishwa Kandel (SEC078BCT009)</a:t>
            </a:r>
          </a:p>
          <a:p>
            <a:pPr algn="l">
              <a:lnSpc>
                <a:spcPts val="4980"/>
              </a:lnSpc>
            </a:pPr>
            <a:r>
              <a:rPr lang="en-US" sz="3557">
                <a:solidFill>
                  <a:srgbClr val="000000"/>
                </a:solidFill>
                <a:latin typeface="Open Sauce"/>
                <a:ea typeface="Open Sauce"/>
                <a:cs typeface="Open Sauce"/>
                <a:sym typeface="Open Sauce"/>
              </a:rPr>
              <a:t>Rabi Chandra Aryal (SEC078BCT023)</a:t>
            </a:r>
          </a:p>
          <a:p>
            <a:pPr algn="l">
              <a:lnSpc>
                <a:spcPts val="4980"/>
              </a:lnSpc>
            </a:pPr>
            <a:r>
              <a:rPr lang="en-US" sz="3557">
                <a:solidFill>
                  <a:srgbClr val="000000"/>
                </a:solidFill>
                <a:latin typeface="Open Sauce"/>
                <a:ea typeface="Open Sauce"/>
                <a:cs typeface="Open Sauce"/>
                <a:sym typeface="Open Sauce"/>
              </a:rPr>
              <a:t>Shashank Katuwal (SEC078BCT032)</a:t>
            </a:r>
          </a:p>
          <a:p>
            <a:pPr algn="l">
              <a:lnSpc>
                <a:spcPts val="4980"/>
              </a:lnSpc>
              <a:spcBef>
                <a:spcPct val="0"/>
              </a:spcBef>
            </a:pPr>
            <a:r>
              <a:rPr lang="en-US" sz="3557">
                <a:solidFill>
                  <a:srgbClr val="000000"/>
                </a:solidFill>
                <a:latin typeface="Open Sauce"/>
                <a:ea typeface="Open Sauce"/>
                <a:cs typeface="Open Sauce"/>
                <a:sym typeface="Open Sauce"/>
              </a:rPr>
              <a:t>Sumesh Dhonju (SEC078BCT034)</a:t>
            </a:r>
          </a:p>
        </p:txBody>
      </p:sp>
      <p:sp>
        <p:nvSpPr>
          <p:cNvPr name="TextBox 4" id="4"/>
          <p:cNvSpPr txBox="true"/>
          <p:nvPr/>
        </p:nvSpPr>
        <p:spPr>
          <a:xfrm rot="0">
            <a:off x="13009245" y="6138735"/>
            <a:ext cx="4250055" cy="1233615"/>
          </a:xfrm>
          <a:prstGeom prst="rect">
            <a:avLst/>
          </a:prstGeom>
        </p:spPr>
        <p:txBody>
          <a:bodyPr anchor="t" rtlCol="false" tIns="0" lIns="0" bIns="0" rIns="0">
            <a:spAutoFit/>
          </a:bodyPr>
          <a:lstStyle/>
          <a:p>
            <a:pPr algn="l">
              <a:lnSpc>
                <a:spcPts val="4980"/>
              </a:lnSpc>
            </a:pPr>
            <a:r>
              <a:rPr lang="en-US" sz="3557" u="sng">
                <a:solidFill>
                  <a:srgbClr val="000000"/>
                </a:solidFill>
                <a:latin typeface="Open Sauce"/>
                <a:ea typeface="Open Sauce"/>
                <a:cs typeface="Open Sauce"/>
                <a:sym typeface="Open Sauce"/>
              </a:rPr>
              <a:t>Project Supervisor: </a:t>
            </a:r>
          </a:p>
          <a:p>
            <a:pPr algn="l">
              <a:lnSpc>
                <a:spcPts val="4980"/>
              </a:lnSpc>
              <a:spcBef>
                <a:spcPct val="0"/>
              </a:spcBef>
            </a:pPr>
            <a:r>
              <a:rPr lang="en-US" sz="3557">
                <a:solidFill>
                  <a:srgbClr val="000000"/>
                </a:solidFill>
                <a:latin typeface="Open Sauce"/>
                <a:ea typeface="Open Sauce"/>
                <a:cs typeface="Open Sauce"/>
                <a:sym typeface="Open Sauce"/>
              </a:rPr>
              <a:t>Er . Nabin Dhakal</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450032" y="933450"/>
            <a:ext cx="5387936"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INTRODUCTION </a:t>
            </a:r>
          </a:p>
        </p:txBody>
      </p:sp>
      <p:sp>
        <p:nvSpPr>
          <p:cNvPr name="TextBox 3" id="3"/>
          <p:cNvSpPr txBox="true"/>
          <p:nvPr/>
        </p:nvSpPr>
        <p:spPr>
          <a:xfrm rot="0">
            <a:off x="2937769" y="4393074"/>
            <a:ext cx="12412462" cy="1443702"/>
          </a:xfrm>
          <a:prstGeom prst="rect">
            <a:avLst/>
          </a:prstGeom>
        </p:spPr>
        <p:txBody>
          <a:bodyPr anchor="t" rtlCol="false" tIns="0" lIns="0" bIns="0" rIns="0">
            <a:spAutoFit/>
          </a:bodyPr>
          <a:lstStyle/>
          <a:p>
            <a:pPr algn="ctr">
              <a:lnSpc>
                <a:spcPts val="3848"/>
              </a:lnSpc>
              <a:spcBef>
                <a:spcPct val="0"/>
              </a:spcBef>
            </a:pPr>
            <a:r>
              <a:rPr lang="en-US" sz="2749">
                <a:solidFill>
                  <a:srgbClr val="000000"/>
                </a:solidFill>
                <a:latin typeface="Open Sauce"/>
                <a:ea typeface="Open Sauce"/>
                <a:cs typeface="Open Sauce"/>
                <a:sym typeface="Open Sauce"/>
              </a:rPr>
              <a:t>The project outlines the design, development, and implementation of a system that automates employee shift allocation, reducing human errors and ensuring efficient utilization of available manpower.</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703627" y="678031"/>
            <a:ext cx="10776937" cy="1792184"/>
          </a:xfrm>
          <a:prstGeom prst="rect">
            <a:avLst/>
          </a:prstGeom>
        </p:spPr>
        <p:txBody>
          <a:bodyPr anchor="t" rtlCol="false" tIns="0" lIns="0" bIns="0" rIns="0">
            <a:spAutoFit/>
          </a:bodyPr>
          <a:lstStyle/>
          <a:p>
            <a:pPr algn="ctr">
              <a:lnSpc>
                <a:spcPts val="7268"/>
              </a:lnSpc>
              <a:spcBef>
                <a:spcPct val="0"/>
              </a:spcBef>
            </a:pPr>
            <a:r>
              <a:rPr lang="en-US" b="true" sz="5191">
                <a:solidFill>
                  <a:srgbClr val="000000"/>
                </a:solidFill>
                <a:latin typeface="Open Sauce Bold"/>
                <a:ea typeface="Open Sauce Bold"/>
                <a:cs typeface="Open Sauce Bold"/>
                <a:sym typeface="Open Sauce Bold"/>
              </a:rPr>
              <a:t> PROBLEM STATEMENT AND SOLUTION</a:t>
            </a:r>
          </a:p>
        </p:txBody>
      </p:sp>
      <p:sp>
        <p:nvSpPr>
          <p:cNvPr name="TextBox 3" id="3"/>
          <p:cNvSpPr txBox="true"/>
          <p:nvPr/>
        </p:nvSpPr>
        <p:spPr>
          <a:xfrm rot="0">
            <a:off x="1028700" y="3945446"/>
            <a:ext cx="7847909" cy="5884355"/>
          </a:xfrm>
          <a:prstGeom prst="rect">
            <a:avLst/>
          </a:prstGeom>
        </p:spPr>
        <p:txBody>
          <a:bodyPr anchor="t" rtlCol="false" tIns="0" lIns="0" bIns="0" rIns="0">
            <a:spAutoFit/>
          </a:bodyPr>
          <a:lstStyle/>
          <a:p>
            <a:pPr algn="l">
              <a:lnSpc>
                <a:spcPts val="4840"/>
              </a:lnSpc>
            </a:pPr>
            <a:r>
              <a:rPr lang="en-US" sz="3457" u="sng">
                <a:solidFill>
                  <a:srgbClr val="000000"/>
                </a:solidFill>
                <a:latin typeface="Open Sauce"/>
                <a:ea typeface="Open Sauce"/>
                <a:cs typeface="Open Sauce"/>
                <a:sym typeface="Open Sauce"/>
              </a:rPr>
              <a:t>Problem Statement : </a:t>
            </a:r>
          </a:p>
          <a:p>
            <a:pPr algn="l">
              <a:lnSpc>
                <a:spcPts val="4840"/>
              </a:lnSpc>
            </a:pPr>
            <a:r>
              <a:rPr lang="en-US" sz="3457">
                <a:solidFill>
                  <a:srgbClr val="000000"/>
                </a:solidFill>
                <a:latin typeface="Open Sauce"/>
                <a:ea typeface="Open Sauce"/>
                <a:cs typeface="Open Sauce"/>
                <a:sym typeface="Open Sauce"/>
              </a:rPr>
              <a:t>Manual Allocation of Shifts </a:t>
            </a:r>
          </a:p>
          <a:p>
            <a:pPr algn="l">
              <a:lnSpc>
                <a:spcPts val="4840"/>
              </a:lnSpc>
            </a:pPr>
          </a:p>
          <a:p>
            <a:pPr algn="l">
              <a:lnSpc>
                <a:spcPts val="4560"/>
              </a:lnSpc>
            </a:pPr>
            <a:r>
              <a:rPr lang="en-US" sz="3257">
                <a:solidFill>
                  <a:srgbClr val="000000"/>
                </a:solidFill>
                <a:latin typeface="Open Sauce"/>
                <a:ea typeface="Open Sauce"/>
                <a:cs typeface="Open Sauce"/>
                <a:sym typeface="Open Sauce"/>
              </a:rPr>
              <a:t>Offices and Company use manual shift assignment of their employees which is not completely feasible and is time consuming.</a:t>
            </a:r>
          </a:p>
          <a:p>
            <a:pPr algn="l">
              <a:lnSpc>
                <a:spcPts val="4560"/>
              </a:lnSpc>
            </a:pPr>
            <a:r>
              <a:rPr lang="en-US" sz="3257">
                <a:solidFill>
                  <a:srgbClr val="000000"/>
                </a:solidFill>
                <a:latin typeface="Open Sauce"/>
                <a:ea typeface="Open Sauce"/>
                <a:cs typeface="Open Sauce"/>
                <a:sym typeface="Open Sauce"/>
              </a:rPr>
              <a:t>Constraint Satisfaction Problem</a:t>
            </a:r>
          </a:p>
          <a:p>
            <a:pPr algn="l">
              <a:lnSpc>
                <a:spcPts val="4840"/>
              </a:lnSpc>
            </a:pPr>
          </a:p>
          <a:p>
            <a:pPr algn="ctr">
              <a:lnSpc>
                <a:spcPts val="4840"/>
              </a:lnSpc>
              <a:spcBef>
                <a:spcPct val="0"/>
              </a:spcBef>
            </a:pPr>
          </a:p>
        </p:txBody>
      </p:sp>
      <p:sp>
        <p:nvSpPr>
          <p:cNvPr name="TextBox 4" id="4"/>
          <p:cNvSpPr txBox="true"/>
          <p:nvPr/>
        </p:nvSpPr>
        <p:spPr>
          <a:xfrm rot="0">
            <a:off x="9951066" y="3945446"/>
            <a:ext cx="7308234" cy="4093654"/>
          </a:xfrm>
          <a:prstGeom prst="rect">
            <a:avLst/>
          </a:prstGeom>
        </p:spPr>
        <p:txBody>
          <a:bodyPr anchor="t" rtlCol="false" tIns="0" lIns="0" bIns="0" rIns="0">
            <a:spAutoFit/>
          </a:bodyPr>
          <a:lstStyle/>
          <a:p>
            <a:pPr algn="l">
              <a:lnSpc>
                <a:spcPts val="4840"/>
              </a:lnSpc>
            </a:pPr>
            <a:r>
              <a:rPr lang="en-US" sz="3457" u="sng">
                <a:solidFill>
                  <a:srgbClr val="000000"/>
                </a:solidFill>
                <a:latin typeface="Open Sauce"/>
                <a:ea typeface="Open Sauce"/>
                <a:cs typeface="Open Sauce"/>
                <a:sym typeface="Open Sauce"/>
              </a:rPr>
              <a:t>Solution : </a:t>
            </a:r>
          </a:p>
          <a:p>
            <a:pPr algn="l">
              <a:lnSpc>
                <a:spcPts val="4840"/>
              </a:lnSpc>
            </a:pPr>
            <a:r>
              <a:rPr lang="en-US" sz="3457">
                <a:solidFill>
                  <a:srgbClr val="000000"/>
                </a:solidFill>
                <a:latin typeface="Open Sauce"/>
                <a:ea typeface="Open Sauce"/>
                <a:cs typeface="Open Sauce"/>
                <a:sym typeface="Open Sauce"/>
              </a:rPr>
              <a:t>Shift Allocation System</a:t>
            </a:r>
          </a:p>
          <a:p>
            <a:pPr algn="l">
              <a:lnSpc>
                <a:spcPts val="4560"/>
              </a:lnSpc>
            </a:pPr>
          </a:p>
          <a:p>
            <a:pPr algn="l">
              <a:lnSpc>
                <a:spcPts val="4560"/>
              </a:lnSpc>
            </a:pPr>
            <a:r>
              <a:rPr lang="en-US" sz="3257">
                <a:solidFill>
                  <a:srgbClr val="000000"/>
                </a:solidFill>
                <a:latin typeface="Open Sauce"/>
                <a:ea typeface="Open Sauce"/>
                <a:cs typeface="Open Sauce"/>
                <a:sym typeface="Open Sauce"/>
              </a:rPr>
              <a:t>This system solves the problem by assigning the shifts desired by the company in just one click.</a:t>
            </a:r>
          </a:p>
          <a:p>
            <a:pPr algn="l">
              <a:lnSpc>
                <a:spcPts val="484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228582" y="933450"/>
            <a:ext cx="3830836"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OBJECTIVE </a:t>
            </a:r>
          </a:p>
        </p:txBody>
      </p:sp>
      <p:sp>
        <p:nvSpPr>
          <p:cNvPr name="TextBox 3" id="3"/>
          <p:cNvSpPr txBox="true"/>
          <p:nvPr/>
        </p:nvSpPr>
        <p:spPr>
          <a:xfrm rot="0">
            <a:off x="1445038" y="4073150"/>
            <a:ext cx="1098597" cy="1070350"/>
          </a:xfrm>
          <a:prstGeom prst="rect">
            <a:avLst/>
          </a:prstGeom>
        </p:spPr>
        <p:txBody>
          <a:bodyPr anchor="t" rtlCol="false" tIns="0" lIns="0" bIns="0" rIns="0">
            <a:spAutoFit/>
          </a:bodyPr>
          <a:lstStyle/>
          <a:p>
            <a:pPr algn="ctr" marL="1346304" indent="-673152" lvl="1">
              <a:lnSpc>
                <a:spcPts val="8730"/>
              </a:lnSpc>
              <a:buFont typeface="Arial"/>
              <a:buChar char="•"/>
            </a:pPr>
          </a:p>
        </p:txBody>
      </p:sp>
      <p:sp>
        <p:nvSpPr>
          <p:cNvPr name="TextBox 4" id="4"/>
          <p:cNvSpPr txBox="true"/>
          <p:nvPr/>
        </p:nvSpPr>
        <p:spPr>
          <a:xfrm rot="0">
            <a:off x="2543634" y="4429128"/>
            <a:ext cx="13200731" cy="955761"/>
          </a:xfrm>
          <a:prstGeom prst="rect">
            <a:avLst/>
          </a:prstGeom>
        </p:spPr>
        <p:txBody>
          <a:bodyPr anchor="t" rtlCol="false" tIns="0" lIns="0" bIns="0" rIns="0">
            <a:spAutoFit/>
          </a:bodyPr>
          <a:lstStyle/>
          <a:p>
            <a:pPr algn="ctr">
              <a:lnSpc>
                <a:spcPts val="3838"/>
              </a:lnSpc>
              <a:spcBef>
                <a:spcPct val="0"/>
              </a:spcBef>
            </a:pPr>
            <a:r>
              <a:rPr lang="en-US" sz="2741">
                <a:solidFill>
                  <a:srgbClr val="000000"/>
                </a:solidFill>
                <a:latin typeface="Open Sauce"/>
                <a:ea typeface="Open Sauce"/>
                <a:cs typeface="Open Sauce"/>
                <a:sym typeface="Open Sauce"/>
              </a:rPr>
              <a:t>To develop a system that facilitates the allocation of shifts to the employees using certain predefined parameters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4350" y="933450"/>
            <a:ext cx="17259300"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CONSTRAINT SATISFACTION PROBLEM</a:t>
            </a:r>
          </a:p>
        </p:txBody>
      </p:sp>
      <p:sp>
        <p:nvSpPr>
          <p:cNvPr name="TextBox 3" id="3"/>
          <p:cNvSpPr txBox="true"/>
          <p:nvPr/>
        </p:nvSpPr>
        <p:spPr>
          <a:xfrm rot="0">
            <a:off x="1028700" y="2764992"/>
            <a:ext cx="15048149" cy="6169238"/>
          </a:xfrm>
          <a:prstGeom prst="rect">
            <a:avLst/>
          </a:prstGeom>
        </p:spPr>
        <p:txBody>
          <a:bodyPr anchor="t" rtlCol="false" tIns="0" lIns="0" bIns="0" rIns="0">
            <a:spAutoFit/>
          </a:bodyPr>
          <a:lstStyle/>
          <a:p>
            <a:pPr algn="l" marL="753842" indent="-376921" lvl="1">
              <a:lnSpc>
                <a:spcPts val="4888"/>
              </a:lnSpc>
              <a:buFont typeface="Arial"/>
              <a:buChar char="•"/>
            </a:pPr>
            <a:r>
              <a:rPr lang="en-US" sz="3491">
                <a:solidFill>
                  <a:srgbClr val="000000"/>
                </a:solidFill>
                <a:latin typeface="Open Sauce"/>
                <a:ea typeface="Open Sauce"/>
                <a:cs typeface="Open Sauce"/>
                <a:sym typeface="Open Sauce"/>
              </a:rPr>
              <a:t>Variable : Shift</a:t>
            </a:r>
          </a:p>
          <a:p>
            <a:pPr algn="l">
              <a:lnSpc>
                <a:spcPts val="4888"/>
              </a:lnSpc>
            </a:pPr>
          </a:p>
          <a:p>
            <a:pPr algn="l" marL="753842" indent="-376921" lvl="1">
              <a:lnSpc>
                <a:spcPts val="4888"/>
              </a:lnSpc>
              <a:buFont typeface="Arial"/>
              <a:buChar char="•"/>
            </a:pPr>
            <a:r>
              <a:rPr lang="en-US" sz="3491">
                <a:solidFill>
                  <a:srgbClr val="000000"/>
                </a:solidFill>
                <a:latin typeface="Open Sauce"/>
                <a:ea typeface="Open Sauce"/>
                <a:cs typeface="Open Sauce"/>
                <a:sym typeface="Open Sauce"/>
              </a:rPr>
              <a:t>Domain :  set of employees available to work those shifts</a:t>
            </a:r>
          </a:p>
          <a:p>
            <a:pPr algn="l">
              <a:lnSpc>
                <a:spcPts val="4888"/>
              </a:lnSpc>
            </a:pPr>
          </a:p>
          <a:p>
            <a:pPr algn="l" marL="753842" indent="-376921" lvl="1">
              <a:lnSpc>
                <a:spcPts val="4888"/>
              </a:lnSpc>
              <a:buFont typeface="Arial"/>
              <a:buChar char="•"/>
            </a:pPr>
            <a:r>
              <a:rPr lang="en-US" sz="3491">
                <a:solidFill>
                  <a:srgbClr val="000000"/>
                </a:solidFill>
                <a:latin typeface="Open Sauce"/>
                <a:ea typeface="Open Sauce"/>
                <a:cs typeface="Open Sauce"/>
                <a:sym typeface="Open Sauce"/>
              </a:rPr>
              <a:t>Constraint : Max working hours , Max shifts per day, Designation match ,Fair distribution </a:t>
            </a:r>
          </a:p>
          <a:p>
            <a:pPr algn="l">
              <a:lnSpc>
                <a:spcPts val="4888"/>
              </a:lnSpc>
            </a:pPr>
          </a:p>
          <a:p>
            <a:pPr algn="l" marL="753842" indent="-376921" lvl="1">
              <a:lnSpc>
                <a:spcPts val="4888"/>
              </a:lnSpc>
              <a:buFont typeface="Arial"/>
              <a:buChar char="•"/>
            </a:pPr>
            <a:r>
              <a:rPr lang="en-US" sz="3491">
                <a:solidFill>
                  <a:srgbClr val="000000"/>
                </a:solidFill>
                <a:latin typeface="Open Sauce"/>
                <a:ea typeface="Open Sauce"/>
                <a:cs typeface="Open Sauce"/>
                <a:sym typeface="Open Sauce"/>
              </a:rPr>
              <a:t>Constraint Solving Strategy</a:t>
            </a:r>
          </a:p>
          <a:p>
            <a:pPr algn="l">
              <a:lnSpc>
                <a:spcPts val="4888"/>
              </a:lnSpc>
            </a:pPr>
          </a:p>
          <a:p>
            <a:pPr algn="l" marL="753842" indent="-376921" lvl="1">
              <a:lnSpc>
                <a:spcPts val="4888"/>
              </a:lnSpc>
              <a:buFont typeface="Arial"/>
              <a:buChar char="•"/>
            </a:pPr>
            <a:r>
              <a:rPr lang="en-US" sz="3491">
                <a:solidFill>
                  <a:srgbClr val="000000"/>
                </a:solidFill>
                <a:latin typeface="Open Sauce"/>
                <a:ea typeface="Open Sauce"/>
                <a:cs typeface="Open Sauce"/>
                <a:sym typeface="Open Sauce"/>
              </a:rPr>
              <a:t>Ensuring an Optimal and Feasible Assignment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150263" y="775880"/>
            <a:ext cx="10147697" cy="887096"/>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IMPLEMENTATION ELEMENTS :</a:t>
            </a:r>
          </a:p>
        </p:txBody>
      </p:sp>
      <p:sp>
        <p:nvSpPr>
          <p:cNvPr name="Freeform 3" id="3"/>
          <p:cNvSpPr/>
          <p:nvPr/>
        </p:nvSpPr>
        <p:spPr>
          <a:xfrm flipH="false" flipV="false" rot="0">
            <a:off x="7105417" y="5493508"/>
            <a:ext cx="4152302" cy="1446385"/>
          </a:xfrm>
          <a:custGeom>
            <a:avLst/>
            <a:gdLst/>
            <a:ahLst/>
            <a:cxnLst/>
            <a:rect r="r" b="b" t="t" l="l"/>
            <a:pathLst>
              <a:path h="1446385" w="4152302">
                <a:moveTo>
                  <a:pt x="0" y="0"/>
                </a:moveTo>
                <a:lnTo>
                  <a:pt x="4152302" y="0"/>
                </a:lnTo>
                <a:lnTo>
                  <a:pt x="4152302" y="1446385"/>
                </a:lnTo>
                <a:lnTo>
                  <a:pt x="0" y="1446385"/>
                </a:lnTo>
                <a:lnTo>
                  <a:pt x="0" y="0"/>
                </a:lnTo>
                <a:close/>
              </a:path>
            </a:pathLst>
          </a:custGeom>
          <a:blipFill>
            <a:blip r:embed="rId2"/>
            <a:stretch>
              <a:fillRect l="0" t="0" r="0" b="0"/>
            </a:stretch>
          </a:blipFill>
        </p:spPr>
      </p:sp>
      <p:sp>
        <p:nvSpPr>
          <p:cNvPr name="Freeform 4" id="4"/>
          <p:cNvSpPr/>
          <p:nvPr/>
        </p:nvSpPr>
        <p:spPr>
          <a:xfrm flipH="false" flipV="false" rot="0">
            <a:off x="12975045" y="5259641"/>
            <a:ext cx="3886385" cy="1680253"/>
          </a:xfrm>
          <a:custGeom>
            <a:avLst/>
            <a:gdLst/>
            <a:ahLst/>
            <a:cxnLst/>
            <a:rect r="r" b="b" t="t" l="l"/>
            <a:pathLst>
              <a:path h="1680253" w="3886385">
                <a:moveTo>
                  <a:pt x="0" y="0"/>
                </a:moveTo>
                <a:lnTo>
                  <a:pt x="3886385" y="0"/>
                </a:lnTo>
                <a:lnTo>
                  <a:pt x="3886385" y="1680252"/>
                </a:lnTo>
                <a:lnTo>
                  <a:pt x="0" y="1680252"/>
                </a:lnTo>
                <a:lnTo>
                  <a:pt x="0" y="0"/>
                </a:lnTo>
                <a:close/>
              </a:path>
            </a:pathLst>
          </a:custGeom>
          <a:blipFill>
            <a:blip r:embed="rId3"/>
            <a:stretch>
              <a:fillRect l="0" t="-4884" r="0" b="-4884"/>
            </a:stretch>
          </a:blipFill>
        </p:spPr>
      </p:sp>
      <p:sp>
        <p:nvSpPr>
          <p:cNvPr name="Freeform 5" id="5"/>
          <p:cNvSpPr/>
          <p:nvPr/>
        </p:nvSpPr>
        <p:spPr>
          <a:xfrm flipH="false" flipV="false" rot="0">
            <a:off x="14984167" y="2747902"/>
            <a:ext cx="1752128" cy="2159313"/>
          </a:xfrm>
          <a:custGeom>
            <a:avLst/>
            <a:gdLst/>
            <a:ahLst/>
            <a:cxnLst/>
            <a:rect r="r" b="b" t="t" l="l"/>
            <a:pathLst>
              <a:path h="2159313" w="1752128">
                <a:moveTo>
                  <a:pt x="0" y="0"/>
                </a:moveTo>
                <a:lnTo>
                  <a:pt x="1752128" y="0"/>
                </a:lnTo>
                <a:lnTo>
                  <a:pt x="1752128" y="2159314"/>
                </a:lnTo>
                <a:lnTo>
                  <a:pt x="0" y="2159314"/>
                </a:lnTo>
                <a:lnTo>
                  <a:pt x="0" y="0"/>
                </a:lnTo>
                <a:close/>
              </a:path>
            </a:pathLst>
          </a:custGeom>
          <a:blipFill>
            <a:blip r:embed="rId4"/>
            <a:stretch>
              <a:fillRect l="0" t="0" r="0" b="0"/>
            </a:stretch>
          </a:blipFill>
        </p:spPr>
      </p:sp>
      <p:sp>
        <p:nvSpPr>
          <p:cNvPr name="Freeform 6" id="6"/>
          <p:cNvSpPr/>
          <p:nvPr/>
        </p:nvSpPr>
        <p:spPr>
          <a:xfrm flipH="false" flipV="false" rot="0">
            <a:off x="8113037" y="2872133"/>
            <a:ext cx="2137062" cy="2116153"/>
          </a:xfrm>
          <a:custGeom>
            <a:avLst/>
            <a:gdLst/>
            <a:ahLst/>
            <a:cxnLst/>
            <a:rect r="r" b="b" t="t" l="l"/>
            <a:pathLst>
              <a:path h="2116153" w="2137062">
                <a:moveTo>
                  <a:pt x="0" y="0"/>
                </a:moveTo>
                <a:lnTo>
                  <a:pt x="2137063" y="0"/>
                </a:lnTo>
                <a:lnTo>
                  <a:pt x="2137063" y="2116153"/>
                </a:lnTo>
                <a:lnTo>
                  <a:pt x="0" y="2116153"/>
                </a:lnTo>
                <a:lnTo>
                  <a:pt x="0" y="0"/>
                </a:lnTo>
                <a:close/>
              </a:path>
            </a:pathLst>
          </a:custGeom>
          <a:blipFill>
            <a:blip r:embed="rId5"/>
            <a:stretch>
              <a:fillRect l="-2837" t="0" r="-2837" b="0"/>
            </a:stretch>
          </a:blipFill>
        </p:spPr>
      </p:sp>
      <p:sp>
        <p:nvSpPr>
          <p:cNvPr name="Freeform 7" id="7"/>
          <p:cNvSpPr/>
          <p:nvPr/>
        </p:nvSpPr>
        <p:spPr>
          <a:xfrm flipH="false" flipV="false" rot="0">
            <a:off x="6028499" y="8070362"/>
            <a:ext cx="3886464" cy="1668607"/>
          </a:xfrm>
          <a:custGeom>
            <a:avLst/>
            <a:gdLst/>
            <a:ahLst/>
            <a:cxnLst/>
            <a:rect r="r" b="b" t="t" l="l"/>
            <a:pathLst>
              <a:path h="1668607" w="3886464">
                <a:moveTo>
                  <a:pt x="0" y="0"/>
                </a:moveTo>
                <a:lnTo>
                  <a:pt x="3886464" y="0"/>
                </a:lnTo>
                <a:lnTo>
                  <a:pt x="3886464" y="1668607"/>
                </a:lnTo>
                <a:lnTo>
                  <a:pt x="0" y="1668607"/>
                </a:lnTo>
                <a:lnTo>
                  <a:pt x="0" y="0"/>
                </a:lnTo>
                <a:close/>
              </a:path>
            </a:pathLst>
          </a:custGeom>
          <a:blipFill>
            <a:blip r:embed="rId6"/>
            <a:stretch>
              <a:fillRect l="0" t="0" r="0" b="0"/>
            </a:stretch>
          </a:blipFill>
        </p:spPr>
      </p:sp>
      <p:sp>
        <p:nvSpPr>
          <p:cNvPr name="Freeform 8" id="8"/>
          <p:cNvSpPr/>
          <p:nvPr/>
        </p:nvSpPr>
        <p:spPr>
          <a:xfrm flipH="false" flipV="false" rot="0">
            <a:off x="11690921" y="8070362"/>
            <a:ext cx="4043098" cy="1489563"/>
          </a:xfrm>
          <a:custGeom>
            <a:avLst/>
            <a:gdLst/>
            <a:ahLst/>
            <a:cxnLst/>
            <a:rect r="r" b="b" t="t" l="l"/>
            <a:pathLst>
              <a:path h="1489563" w="4043098">
                <a:moveTo>
                  <a:pt x="0" y="0"/>
                </a:moveTo>
                <a:lnTo>
                  <a:pt x="4043099" y="0"/>
                </a:lnTo>
                <a:lnTo>
                  <a:pt x="4043099" y="1489563"/>
                </a:lnTo>
                <a:lnTo>
                  <a:pt x="0" y="1489563"/>
                </a:lnTo>
                <a:lnTo>
                  <a:pt x="0" y="0"/>
                </a:lnTo>
                <a:close/>
              </a:path>
            </a:pathLst>
          </a:custGeom>
          <a:blipFill>
            <a:blip r:embed="rId7"/>
            <a:stretch>
              <a:fillRect l="0" t="0" r="0" b="0"/>
            </a:stretch>
          </a:blipFill>
        </p:spPr>
      </p:sp>
      <p:sp>
        <p:nvSpPr>
          <p:cNvPr name="AutoShape 9" id="9"/>
          <p:cNvSpPr/>
          <p:nvPr/>
        </p:nvSpPr>
        <p:spPr>
          <a:xfrm>
            <a:off x="153" y="7639071"/>
            <a:ext cx="7105264" cy="19050"/>
          </a:xfrm>
          <a:prstGeom prst="line">
            <a:avLst/>
          </a:prstGeom>
          <a:ln cap="flat" w="114300">
            <a:solidFill>
              <a:srgbClr val="9FC3D0"/>
            </a:solidFill>
            <a:prstDash val="solid"/>
            <a:headEnd type="none" len="sm" w="sm"/>
            <a:tailEnd type="none" len="sm" w="sm"/>
          </a:ln>
        </p:spPr>
      </p:sp>
      <p:sp>
        <p:nvSpPr>
          <p:cNvPr name="AutoShape 10" id="10"/>
          <p:cNvSpPr/>
          <p:nvPr/>
        </p:nvSpPr>
        <p:spPr>
          <a:xfrm>
            <a:off x="11690921" y="7639071"/>
            <a:ext cx="7105264" cy="19050"/>
          </a:xfrm>
          <a:prstGeom prst="line">
            <a:avLst/>
          </a:prstGeom>
          <a:ln cap="flat" w="114300">
            <a:solidFill>
              <a:srgbClr val="9FC3D0"/>
            </a:solidFill>
            <a:prstDash val="solid"/>
            <a:headEnd type="none" len="sm" w="sm"/>
            <a:tailEnd type="none" len="sm" w="sm"/>
          </a:ln>
        </p:spPr>
      </p:sp>
      <p:sp>
        <p:nvSpPr>
          <p:cNvPr name="Freeform 11" id="11"/>
          <p:cNvSpPr/>
          <p:nvPr/>
        </p:nvSpPr>
        <p:spPr>
          <a:xfrm flipH="false" flipV="false" rot="0">
            <a:off x="11401559" y="2832589"/>
            <a:ext cx="2310911" cy="2310911"/>
          </a:xfrm>
          <a:custGeom>
            <a:avLst/>
            <a:gdLst/>
            <a:ahLst/>
            <a:cxnLst/>
            <a:rect r="r" b="b" t="t" l="l"/>
            <a:pathLst>
              <a:path h="2310911" w="2310911">
                <a:moveTo>
                  <a:pt x="0" y="0"/>
                </a:moveTo>
                <a:lnTo>
                  <a:pt x="2310911" y="0"/>
                </a:lnTo>
                <a:lnTo>
                  <a:pt x="2310911" y="2310911"/>
                </a:lnTo>
                <a:lnTo>
                  <a:pt x="0" y="2310911"/>
                </a:lnTo>
                <a:lnTo>
                  <a:pt x="0" y="0"/>
                </a:lnTo>
                <a:close/>
              </a:path>
            </a:pathLst>
          </a:custGeom>
          <a:blipFill>
            <a:blip r:embed="rId8"/>
            <a:stretch>
              <a:fillRect l="0" t="0" r="0" b="0"/>
            </a:stretch>
          </a:blipFill>
        </p:spPr>
      </p:sp>
      <p:sp>
        <p:nvSpPr>
          <p:cNvPr name="TextBox 12" id="12"/>
          <p:cNvSpPr txBox="true"/>
          <p:nvPr/>
        </p:nvSpPr>
        <p:spPr>
          <a:xfrm rot="0">
            <a:off x="1237935" y="3911844"/>
            <a:ext cx="3497818" cy="138430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uce Bold"/>
                <a:ea typeface="Open Sauce Bold"/>
                <a:cs typeface="Open Sauce Bold"/>
                <a:sym typeface="Open Sauce Bold"/>
              </a:rPr>
              <a:t>LANGUAGES/</a:t>
            </a:r>
          </a:p>
          <a:p>
            <a:pPr algn="ctr">
              <a:lnSpc>
                <a:spcPts val="5599"/>
              </a:lnSpc>
              <a:spcBef>
                <a:spcPct val="0"/>
              </a:spcBef>
            </a:pPr>
            <a:r>
              <a:rPr lang="en-US" b="true" sz="3999">
                <a:solidFill>
                  <a:srgbClr val="000000"/>
                </a:solidFill>
                <a:latin typeface="Open Sauce Bold"/>
                <a:ea typeface="Open Sauce Bold"/>
                <a:cs typeface="Open Sauce Bold"/>
                <a:sym typeface="Open Sauce Bold"/>
              </a:rPr>
              <a:t>STACK:</a:t>
            </a:r>
          </a:p>
        </p:txBody>
      </p:sp>
      <p:sp>
        <p:nvSpPr>
          <p:cNvPr name="TextBox 13" id="13"/>
          <p:cNvSpPr txBox="true"/>
          <p:nvPr/>
        </p:nvSpPr>
        <p:spPr>
          <a:xfrm rot="0">
            <a:off x="2033927" y="8437319"/>
            <a:ext cx="1905834"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Open Sauce Bold"/>
                <a:ea typeface="Open Sauce Bold"/>
                <a:cs typeface="Open Sauce Bold"/>
                <a:sym typeface="Open Sauce Bold"/>
              </a:rPr>
              <a:t>TOOLS: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12009171" cy="8552765"/>
          </a:xfrm>
          <a:custGeom>
            <a:avLst/>
            <a:gdLst/>
            <a:ahLst/>
            <a:cxnLst/>
            <a:rect r="r" b="b" t="t" l="l"/>
            <a:pathLst>
              <a:path h="8552765" w="12009171">
                <a:moveTo>
                  <a:pt x="0" y="0"/>
                </a:moveTo>
                <a:lnTo>
                  <a:pt x="12009171" y="0"/>
                </a:lnTo>
                <a:lnTo>
                  <a:pt x="12009171" y="8552765"/>
                </a:lnTo>
                <a:lnTo>
                  <a:pt x="0" y="8552765"/>
                </a:lnTo>
                <a:lnTo>
                  <a:pt x="0" y="0"/>
                </a:lnTo>
                <a:close/>
              </a:path>
            </a:pathLst>
          </a:custGeom>
          <a:blipFill>
            <a:blip r:embed="rId2"/>
            <a:stretch>
              <a:fillRect l="0" t="0" r="0" b="0"/>
            </a:stretch>
          </a:blipFill>
        </p:spPr>
      </p:sp>
      <p:sp>
        <p:nvSpPr>
          <p:cNvPr name="TextBox 3" id="3"/>
          <p:cNvSpPr txBox="true"/>
          <p:nvPr/>
        </p:nvSpPr>
        <p:spPr>
          <a:xfrm rot="0">
            <a:off x="4801255" y="148477"/>
            <a:ext cx="8685490" cy="877784"/>
          </a:xfrm>
          <a:prstGeom prst="rect">
            <a:avLst/>
          </a:prstGeom>
        </p:spPr>
        <p:txBody>
          <a:bodyPr anchor="t" rtlCol="false" tIns="0" lIns="0" bIns="0" rIns="0">
            <a:spAutoFit/>
          </a:bodyPr>
          <a:lstStyle/>
          <a:p>
            <a:pPr algn="ctr" marL="0" indent="0" lvl="0">
              <a:lnSpc>
                <a:spcPts val="7268"/>
              </a:lnSpc>
              <a:spcBef>
                <a:spcPct val="0"/>
              </a:spcBef>
            </a:pPr>
            <a:r>
              <a:rPr lang="en-US" b="true" sz="5191" strike="noStrike" u="none">
                <a:solidFill>
                  <a:srgbClr val="000000"/>
                </a:solidFill>
                <a:latin typeface="Open Sauce Bold"/>
                <a:ea typeface="Open Sauce Bold"/>
                <a:cs typeface="Open Sauce Bold"/>
                <a:sym typeface="Open Sauce Bold"/>
              </a:rPr>
              <a:t>SYSTEM BLOCK DIAGRAM</a:t>
            </a:r>
          </a:p>
        </p:txBody>
      </p:sp>
      <p:sp>
        <p:nvSpPr>
          <p:cNvPr name="TextBox 4" id="4"/>
          <p:cNvSpPr txBox="true"/>
          <p:nvPr/>
        </p:nvSpPr>
        <p:spPr>
          <a:xfrm rot="0">
            <a:off x="12480369" y="9631415"/>
            <a:ext cx="4778931"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System Block Diagram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08806" y="1141522"/>
            <a:ext cx="8167858" cy="9145478"/>
          </a:xfrm>
          <a:custGeom>
            <a:avLst/>
            <a:gdLst/>
            <a:ahLst/>
            <a:cxnLst/>
            <a:rect r="r" b="b" t="t" l="l"/>
            <a:pathLst>
              <a:path h="9145478" w="8167858">
                <a:moveTo>
                  <a:pt x="0" y="0"/>
                </a:moveTo>
                <a:lnTo>
                  <a:pt x="8167858" y="0"/>
                </a:lnTo>
                <a:lnTo>
                  <a:pt x="8167858" y="9145478"/>
                </a:lnTo>
                <a:lnTo>
                  <a:pt x="0" y="9145478"/>
                </a:lnTo>
                <a:lnTo>
                  <a:pt x="0" y="0"/>
                </a:lnTo>
                <a:close/>
              </a:path>
            </a:pathLst>
          </a:custGeom>
          <a:blipFill>
            <a:blip r:embed="rId2"/>
            <a:stretch>
              <a:fillRect l="0" t="0" r="0" b="0"/>
            </a:stretch>
          </a:blipFill>
        </p:spPr>
      </p:sp>
      <p:sp>
        <p:nvSpPr>
          <p:cNvPr name="TextBox 3" id="3"/>
          <p:cNvSpPr txBox="true"/>
          <p:nvPr/>
        </p:nvSpPr>
        <p:spPr>
          <a:xfrm rot="0">
            <a:off x="3846016" y="254427"/>
            <a:ext cx="10595967"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SYSTEM WORKFLOW DIAGRAM</a:t>
            </a:r>
          </a:p>
        </p:txBody>
      </p:sp>
      <p:sp>
        <p:nvSpPr>
          <p:cNvPr name="TextBox 4" id="4"/>
          <p:cNvSpPr txBox="true"/>
          <p:nvPr/>
        </p:nvSpPr>
        <p:spPr>
          <a:xfrm rot="0">
            <a:off x="11347825" y="9210675"/>
            <a:ext cx="5423297"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System Workflow Diagram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22950" y="1303532"/>
            <a:ext cx="17741682" cy="9546718"/>
          </a:xfrm>
          <a:custGeom>
            <a:avLst/>
            <a:gdLst/>
            <a:ahLst/>
            <a:cxnLst/>
            <a:rect r="r" b="b" t="t" l="l"/>
            <a:pathLst>
              <a:path h="9546718" w="17741682">
                <a:moveTo>
                  <a:pt x="0" y="0"/>
                </a:moveTo>
                <a:lnTo>
                  <a:pt x="17741682" y="0"/>
                </a:lnTo>
                <a:lnTo>
                  <a:pt x="17741682" y="9546718"/>
                </a:lnTo>
                <a:lnTo>
                  <a:pt x="0" y="9546718"/>
                </a:lnTo>
                <a:lnTo>
                  <a:pt x="0" y="0"/>
                </a:lnTo>
                <a:close/>
              </a:path>
            </a:pathLst>
          </a:custGeom>
          <a:blipFill>
            <a:blip r:embed="rId2"/>
            <a:stretch>
              <a:fillRect l="0" t="-3081" r="0" b="0"/>
            </a:stretch>
          </a:blipFill>
        </p:spPr>
      </p:sp>
      <p:sp>
        <p:nvSpPr>
          <p:cNvPr name="TextBox 3" id="3"/>
          <p:cNvSpPr txBox="true"/>
          <p:nvPr/>
        </p:nvSpPr>
        <p:spPr>
          <a:xfrm rot="0">
            <a:off x="3676590" y="537527"/>
            <a:ext cx="10934820"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ENTITY-RELATIONSHIP DIAGRAM</a:t>
            </a:r>
          </a:p>
        </p:txBody>
      </p:sp>
      <p:sp>
        <p:nvSpPr>
          <p:cNvPr name="TextBox 4" id="4"/>
          <p:cNvSpPr txBox="true"/>
          <p:nvPr/>
        </p:nvSpPr>
        <p:spPr>
          <a:xfrm rot="0">
            <a:off x="12400275" y="8414146"/>
            <a:ext cx="5524381"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Entity-Relationship Diagram</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25706" y="2803288"/>
            <a:ext cx="3333310" cy="1023120"/>
            <a:chOff x="0" y="0"/>
            <a:chExt cx="877909" cy="269464"/>
          </a:xfrm>
        </p:grpSpPr>
        <p:sp>
          <p:nvSpPr>
            <p:cNvPr name="Freeform 3" id="3"/>
            <p:cNvSpPr/>
            <p:nvPr/>
          </p:nvSpPr>
          <p:spPr>
            <a:xfrm flipH="false" flipV="false" rot="0">
              <a:off x="0" y="0"/>
              <a:ext cx="877909" cy="269464"/>
            </a:xfrm>
            <a:custGeom>
              <a:avLst/>
              <a:gdLst/>
              <a:ahLst/>
              <a:cxnLst/>
              <a:rect r="r" b="b" t="t" l="l"/>
              <a:pathLst>
                <a:path h="269464" w="877909">
                  <a:moveTo>
                    <a:pt x="0" y="0"/>
                  </a:moveTo>
                  <a:lnTo>
                    <a:pt x="877909" y="0"/>
                  </a:lnTo>
                  <a:lnTo>
                    <a:pt x="877909" y="269464"/>
                  </a:lnTo>
                  <a:lnTo>
                    <a:pt x="0" y="269464"/>
                  </a:lnTo>
                  <a:close/>
                </a:path>
              </a:pathLst>
            </a:custGeom>
            <a:solidFill>
              <a:srgbClr val="FFFFFF"/>
            </a:solidFill>
            <a:ln w="38100" cap="sq">
              <a:solidFill>
                <a:srgbClr val="F70000"/>
              </a:solidFill>
              <a:prstDash val="solid"/>
              <a:miter/>
            </a:ln>
          </p:spPr>
        </p:sp>
        <p:sp>
          <p:nvSpPr>
            <p:cNvPr name="TextBox 4" id="4"/>
            <p:cNvSpPr txBox="true"/>
            <p:nvPr/>
          </p:nvSpPr>
          <p:spPr>
            <a:xfrm>
              <a:off x="0" y="-9525"/>
              <a:ext cx="877909" cy="278989"/>
            </a:xfrm>
            <a:prstGeom prst="rect">
              <a:avLst/>
            </a:prstGeom>
          </p:spPr>
          <p:txBody>
            <a:bodyPr anchor="ctr" rtlCol="false" tIns="50800" lIns="50800" bIns="50800" rIns="50800"/>
            <a:lstStyle/>
            <a:p>
              <a:pPr algn="ctr">
                <a:lnSpc>
                  <a:spcPts val="700"/>
                </a:lnSpc>
                <a:spcBef>
                  <a:spcPct val="0"/>
                </a:spcBef>
              </a:pPr>
            </a:p>
          </p:txBody>
        </p:sp>
      </p:grpSp>
      <p:sp>
        <p:nvSpPr>
          <p:cNvPr name="TextBox 5" id="5"/>
          <p:cNvSpPr txBox="true"/>
          <p:nvPr/>
        </p:nvSpPr>
        <p:spPr>
          <a:xfrm rot="0">
            <a:off x="6757095" y="394862"/>
            <a:ext cx="4773811"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PARAMETERS </a:t>
            </a:r>
          </a:p>
        </p:txBody>
      </p:sp>
      <p:sp>
        <p:nvSpPr>
          <p:cNvPr name="TextBox 6" id="6"/>
          <p:cNvSpPr txBox="true"/>
          <p:nvPr/>
        </p:nvSpPr>
        <p:spPr>
          <a:xfrm rot="0">
            <a:off x="1418259" y="2896262"/>
            <a:ext cx="2827972" cy="656168"/>
          </a:xfrm>
          <a:prstGeom prst="rect">
            <a:avLst/>
          </a:prstGeom>
        </p:spPr>
        <p:txBody>
          <a:bodyPr anchor="t" rtlCol="false" tIns="0" lIns="0" bIns="0" rIns="0">
            <a:spAutoFit/>
          </a:bodyPr>
          <a:lstStyle/>
          <a:p>
            <a:pPr algn="ctr">
              <a:lnSpc>
                <a:spcPts val="5308"/>
              </a:lnSpc>
            </a:pPr>
            <a:r>
              <a:rPr lang="en-US" sz="3791">
                <a:solidFill>
                  <a:srgbClr val="000000"/>
                </a:solidFill>
                <a:latin typeface="Open Sauce"/>
                <a:ea typeface="Open Sauce"/>
                <a:cs typeface="Open Sauce"/>
                <a:sym typeface="Open Sauce"/>
              </a:rPr>
              <a:t>TIMEFRAME</a:t>
            </a:r>
          </a:p>
        </p:txBody>
      </p:sp>
      <p:grpSp>
        <p:nvGrpSpPr>
          <p:cNvPr name="Group 7" id="7"/>
          <p:cNvGrpSpPr/>
          <p:nvPr/>
        </p:nvGrpSpPr>
        <p:grpSpPr>
          <a:xfrm rot="0">
            <a:off x="1243522" y="4373485"/>
            <a:ext cx="3315494" cy="920304"/>
            <a:chOff x="0" y="0"/>
            <a:chExt cx="873217" cy="242385"/>
          </a:xfrm>
        </p:grpSpPr>
        <p:sp>
          <p:nvSpPr>
            <p:cNvPr name="Freeform 8" id="8"/>
            <p:cNvSpPr/>
            <p:nvPr/>
          </p:nvSpPr>
          <p:spPr>
            <a:xfrm flipH="false" flipV="false" rot="0">
              <a:off x="0" y="0"/>
              <a:ext cx="873217" cy="242385"/>
            </a:xfrm>
            <a:custGeom>
              <a:avLst/>
              <a:gdLst/>
              <a:ahLst/>
              <a:cxnLst/>
              <a:rect r="r" b="b" t="t" l="l"/>
              <a:pathLst>
                <a:path h="242385" w="873217">
                  <a:moveTo>
                    <a:pt x="0" y="0"/>
                  </a:moveTo>
                  <a:lnTo>
                    <a:pt x="873217" y="0"/>
                  </a:lnTo>
                  <a:lnTo>
                    <a:pt x="873217" y="242385"/>
                  </a:lnTo>
                  <a:lnTo>
                    <a:pt x="0" y="242385"/>
                  </a:lnTo>
                  <a:close/>
                </a:path>
              </a:pathLst>
            </a:custGeom>
            <a:solidFill>
              <a:srgbClr val="FFFFFF"/>
            </a:solidFill>
            <a:ln w="38100" cap="sq">
              <a:solidFill>
                <a:srgbClr val="F70000"/>
              </a:solidFill>
              <a:prstDash val="solid"/>
              <a:miter/>
            </a:ln>
          </p:spPr>
        </p:sp>
        <p:sp>
          <p:nvSpPr>
            <p:cNvPr name="TextBox 9" id="9"/>
            <p:cNvSpPr txBox="true"/>
            <p:nvPr/>
          </p:nvSpPr>
          <p:spPr>
            <a:xfrm>
              <a:off x="0" y="-9525"/>
              <a:ext cx="873217" cy="251910"/>
            </a:xfrm>
            <a:prstGeom prst="rect">
              <a:avLst/>
            </a:prstGeom>
          </p:spPr>
          <p:txBody>
            <a:bodyPr anchor="ctr" rtlCol="false" tIns="50800" lIns="50800" bIns="50800" rIns="50800"/>
            <a:lstStyle/>
            <a:p>
              <a:pPr algn="ctr">
                <a:lnSpc>
                  <a:spcPts val="700"/>
                </a:lnSpc>
                <a:spcBef>
                  <a:spcPct val="0"/>
                </a:spcBef>
              </a:pPr>
            </a:p>
          </p:txBody>
        </p:sp>
      </p:grpSp>
      <p:sp>
        <p:nvSpPr>
          <p:cNvPr name="TextBox 10" id="10"/>
          <p:cNvSpPr txBox="true"/>
          <p:nvPr/>
        </p:nvSpPr>
        <p:spPr>
          <a:xfrm rot="0">
            <a:off x="1419569" y="4437802"/>
            <a:ext cx="2861191" cy="656168"/>
          </a:xfrm>
          <a:prstGeom prst="rect">
            <a:avLst/>
          </a:prstGeom>
        </p:spPr>
        <p:txBody>
          <a:bodyPr anchor="t" rtlCol="false" tIns="0" lIns="0" bIns="0" rIns="0">
            <a:spAutoFit/>
          </a:bodyPr>
          <a:lstStyle/>
          <a:p>
            <a:pPr algn="ctr">
              <a:lnSpc>
                <a:spcPts val="5308"/>
              </a:lnSpc>
            </a:pPr>
            <a:r>
              <a:rPr lang="en-US" sz="3791">
                <a:solidFill>
                  <a:srgbClr val="000000"/>
                </a:solidFill>
                <a:latin typeface="Open Sauce"/>
                <a:ea typeface="Open Sauce"/>
                <a:cs typeface="Open Sauce"/>
                <a:sym typeface="Open Sauce"/>
              </a:rPr>
              <a:t>WORKLOAD</a:t>
            </a:r>
          </a:p>
        </p:txBody>
      </p:sp>
      <p:grpSp>
        <p:nvGrpSpPr>
          <p:cNvPr name="Group 11" id="11"/>
          <p:cNvGrpSpPr/>
          <p:nvPr/>
        </p:nvGrpSpPr>
        <p:grpSpPr>
          <a:xfrm rot="0">
            <a:off x="1225504" y="5836714"/>
            <a:ext cx="5531590" cy="990114"/>
            <a:chOff x="0" y="0"/>
            <a:chExt cx="1456880" cy="260771"/>
          </a:xfrm>
        </p:grpSpPr>
        <p:sp>
          <p:nvSpPr>
            <p:cNvPr name="Freeform 12" id="12"/>
            <p:cNvSpPr/>
            <p:nvPr/>
          </p:nvSpPr>
          <p:spPr>
            <a:xfrm flipH="false" flipV="false" rot="0">
              <a:off x="0" y="0"/>
              <a:ext cx="1456880" cy="260771"/>
            </a:xfrm>
            <a:custGeom>
              <a:avLst/>
              <a:gdLst/>
              <a:ahLst/>
              <a:cxnLst/>
              <a:rect r="r" b="b" t="t" l="l"/>
              <a:pathLst>
                <a:path h="260771" w="1456880">
                  <a:moveTo>
                    <a:pt x="0" y="0"/>
                  </a:moveTo>
                  <a:lnTo>
                    <a:pt x="1456880" y="0"/>
                  </a:lnTo>
                  <a:lnTo>
                    <a:pt x="1456880" y="260771"/>
                  </a:lnTo>
                  <a:lnTo>
                    <a:pt x="0" y="260771"/>
                  </a:lnTo>
                  <a:close/>
                </a:path>
              </a:pathLst>
            </a:custGeom>
            <a:solidFill>
              <a:srgbClr val="FFFFFF"/>
            </a:solidFill>
            <a:ln w="38100" cap="sq">
              <a:solidFill>
                <a:srgbClr val="F70000"/>
              </a:solidFill>
              <a:prstDash val="solid"/>
              <a:miter/>
            </a:ln>
          </p:spPr>
        </p:sp>
        <p:sp>
          <p:nvSpPr>
            <p:cNvPr name="TextBox 13" id="13"/>
            <p:cNvSpPr txBox="true"/>
            <p:nvPr/>
          </p:nvSpPr>
          <p:spPr>
            <a:xfrm>
              <a:off x="0" y="-9525"/>
              <a:ext cx="1456880" cy="270296"/>
            </a:xfrm>
            <a:prstGeom prst="rect">
              <a:avLst/>
            </a:prstGeom>
          </p:spPr>
          <p:txBody>
            <a:bodyPr anchor="ctr" rtlCol="false" tIns="50800" lIns="50800" bIns="50800" rIns="50800"/>
            <a:lstStyle/>
            <a:p>
              <a:pPr algn="ctr">
                <a:lnSpc>
                  <a:spcPts val="700"/>
                </a:lnSpc>
                <a:spcBef>
                  <a:spcPct val="0"/>
                </a:spcBef>
              </a:pPr>
            </a:p>
          </p:txBody>
        </p:sp>
      </p:grpSp>
      <p:sp>
        <p:nvSpPr>
          <p:cNvPr name="TextBox 14" id="14"/>
          <p:cNvSpPr txBox="true"/>
          <p:nvPr/>
        </p:nvSpPr>
        <p:spPr>
          <a:xfrm rot="0">
            <a:off x="1418259" y="5960825"/>
            <a:ext cx="5653086" cy="656168"/>
          </a:xfrm>
          <a:prstGeom prst="rect">
            <a:avLst/>
          </a:prstGeom>
        </p:spPr>
        <p:txBody>
          <a:bodyPr anchor="t" rtlCol="false" tIns="0" lIns="0" bIns="0" rIns="0">
            <a:spAutoFit/>
          </a:bodyPr>
          <a:lstStyle/>
          <a:p>
            <a:pPr algn="l">
              <a:lnSpc>
                <a:spcPts val="5308"/>
              </a:lnSpc>
            </a:pPr>
            <a:r>
              <a:rPr lang="en-US" sz="3791">
                <a:solidFill>
                  <a:srgbClr val="000000"/>
                </a:solidFill>
                <a:latin typeface="Open Sauce"/>
                <a:ea typeface="Open Sauce"/>
                <a:cs typeface="Open Sauce"/>
                <a:sym typeface="Open Sauce"/>
              </a:rPr>
              <a:t>MAX SHIFTS PER DAY</a:t>
            </a:r>
          </a:p>
        </p:txBody>
      </p:sp>
      <p:grpSp>
        <p:nvGrpSpPr>
          <p:cNvPr name="Group 15" id="15"/>
          <p:cNvGrpSpPr/>
          <p:nvPr/>
        </p:nvGrpSpPr>
        <p:grpSpPr>
          <a:xfrm rot="0">
            <a:off x="1225504" y="7388318"/>
            <a:ext cx="3530613" cy="924990"/>
            <a:chOff x="0" y="0"/>
            <a:chExt cx="929873" cy="243619"/>
          </a:xfrm>
        </p:grpSpPr>
        <p:sp>
          <p:nvSpPr>
            <p:cNvPr name="Freeform 16" id="16"/>
            <p:cNvSpPr/>
            <p:nvPr/>
          </p:nvSpPr>
          <p:spPr>
            <a:xfrm flipH="false" flipV="false" rot="0">
              <a:off x="0" y="0"/>
              <a:ext cx="929873" cy="243619"/>
            </a:xfrm>
            <a:custGeom>
              <a:avLst/>
              <a:gdLst/>
              <a:ahLst/>
              <a:cxnLst/>
              <a:rect r="r" b="b" t="t" l="l"/>
              <a:pathLst>
                <a:path h="243619" w="929873">
                  <a:moveTo>
                    <a:pt x="0" y="0"/>
                  </a:moveTo>
                  <a:lnTo>
                    <a:pt x="929873" y="0"/>
                  </a:lnTo>
                  <a:lnTo>
                    <a:pt x="929873" y="243619"/>
                  </a:lnTo>
                  <a:lnTo>
                    <a:pt x="0" y="243619"/>
                  </a:lnTo>
                  <a:close/>
                </a:path>
              </a:pathLst>
            </a:custGeom>
            <a:solidFill>
              <a:srgbClr val="FFFFFF"/>
            </a:solidFill>
            <a:ln w="38100" cap="sq">
              <a:solidFill>
                <a:srgbClr val="F70000"/>
              </a:solidFill>
              <a:prstDash val="solid"/>
              <a:miter/>
            </a:ln>
          </p:spPr>
        </p:sp>
        <p:sp>
          <p:nvSpPr>
            <p:cNvPr name="TextBox 17" id="17"/>
            <p:cNvSpPr txBox="true"/>
            <p:nvPr/>
          </p:nvSpPr>
          <p:spPr>
            <a:xfrm>
              <a:off x="0" y="-9525"/>
              <a:ext cx="929873" cy="253144"/>
            </a:xfrm>
            <a:prstGeom prst="rect">
              <a:avLst/>
            </a:prstGeom>
          </p:spPr>
          <p:txBody>
            <a:bodyPr anchor="ctr" rtlCol="false" tIns="50800" lIns="50800" bIns="50800" rIns="50800"/>
            <a:lstStyle/>
            <a:p>
              <a:pPr algn="ctr">
                <a:lnSpc>
                  <a:spcPts val="700"/>
                </a:lnSpc>
                <a:spcBef>
                  <a:spcPct val="0"/>
                </a:spcBef>
              </a:pPr>
            </a:p>
          </p:txBody>
        </p:sp>
      </p:grpSp>
      <p:sp>
        <p:nvSpPr>
          <p:cNvPr name="TextBox 18" id="18"/>
          <p:cNvSpPr txBox="true"/>
          <p:nvPr/>
        </p:nvSpPr>
        <p:spPr>
          <a:xfrm rot="0">
            <a:off x="1500234" y="7455101"/>
            <a:ext cx="3062049" cy="656168"/>
          </a:xfrm>
          <a:prstGeom prst="rect">
            <a:avLst/>
          </a:prstGeom>
        </p:spPr>
        <p:txBody>
          <a:bodyPr anchor="t" rtlCol="false" tIns="0" lIns="0" bIns="0" rIns="0">
            <a:spAutoFit/>
          </a:bodyPr>
          <a:lstStyle/>
          <a:p>
            <a:pPr algn="ctr">
              <a:lnSpc>
                <a:spcPts val="5308"/>
              </a:lnSpc>
            </a:pPr>
            <a:r>
              <a:rPr lang="en-US" sz="3791">
                <a:solidFill>
                  <a:srgbClr val="000000"/>
                </a:solidFill>
                <a:latin typeface="Open Sauce"/>
                <a:ea typeface="Open Sauce"/>
                <a:cs typeface="Open Sauce"/>
                <a:sym typeface="Open Sauce"/>
              </a:rPr>
              <a:t>CRITICALITY </a:t>
            </a:r>
          </a:p>
        </p:txBody>
      </p:sp>
      <p:sp>
        <p:nvSpPr>
          <p:cNvPr name="TextBox 19" id="19"/>
          <p:cNvSpPr txBox="true"/>
          <p:nvPr/>
        </p:nvSpPr>
        <p:spPr>
          <a:xfrm rot="0">
            <a:off x="7798094" y="3097135"/>
            <a:ext cx="10332939" cy="504825"/>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Open Sauce Bold"/>
                <a:ea typeface="Open Sauce Bold"/>
                <a:cs typeface="Open Sauce Bold"/>
                <a:sym typeface="Open Sauce Bold"/>
              </a:rPr>
              <a:t>Number of employees to assign for that time-instance.</a:t>
            </a:r>
          </a:p>
        </p:txBody>
      </p:sp>
      <p:sp>
        <p:nvSpPr>
          <p:cNvPr name="TextBox 20" id="20"/>
          <p:cNvSpPr txBox="true"/>
          <p:nvPr/>
        </p:nvSpPr>
        <p:spPr>
          <a:xfrm rot="0">
            <a:off x="8062224" y="4466377"/>
            <a:ext cx="9868972" cy="1028700"/>
          </a:xfrm>
          <a:prstGeom prst="rect">
            <a:avLst/>
          </a:prstGeom>
        </p:spPr>
        <p:txBody>
          <a:bodyPr anchor="t" rtlCol="false" tIns="0" lIns="0" bIns="0" rIns="0">
            <a:spAutoFit/>
          </a:bodyPr>
          <a:lstStyle/>
          <a:p>
            <a:pPr algn="ctr">
              <a:lnSpc>
                <a:spcPts val="4199"/>
              </a:lnSpc>
            </a:pPr>
            <a:r>
              <a:rPr lang="en-US" sz="2999" b="true">
                <a:solidFill>
                  <a:srgbClr val="000000"/>
                </a:solidFill>
                <a:latin typeface="Open Sauce Bold"/>
                <a:ea typeface="Open Sauce Bold"/>
                <a:cs typeface="Open Sauce Bold"/>
                <a:sym typeface="Open Sauce Bold"/>
              </a:rPr>
              <a:t>Number of working hours per week for an employee</a:t>
            </a:r>
          </a:p>
          <a:p>
            <a:pPr algn="ctr">
              <a:lnSpc>
                <a:spcPts val="4199"/>
              </a:lnSpc>
              <a:spcBef>
                <a:spcPct val="0"/>
              </a:spcBef>
            </a:pPr>
          </a:p>
        </p:txBody>
      </p:sp>
      <p:sp>
        <p:nvSpPr>
          <p:cNvPr name="TextBox 21" id="21"/>
          <p:cNvSpPr txBox="true"/>
          <p:nvPr/>
        </p:nvSpPr>
        <p:spPr>
          <a:xfrm rot="0">
            <a:off x="7750462" y="5798128"/>
            <a:ext cx="9758185" cy="1028700"/>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Open Sauce Bold"/>
                <a:ea typeface="Open Sauce Bold"/>
                <a:cs typeface="Open Sauce Bold"/>
                <a:sym typeface="Open Sauce Bold"/>
              </a:rPr>
              <a:t>The maximum number of shifts an employee can work per day</a:t>
            </a:r>
          </a:p>
        </p:txBody>
      </p:sp>
      <p:sp>
        <p:nvSpPr>
          <p:cNvPr name="TextBox 22" id="22"/>
          <p:cNvSpPr txBox="true"/>
          <p:nvPr/>
        </p:nvSpPr>
        <p:spPr>
          <a:xfrm rot="0">
            <a:off x="7826662" y="7331168"/>
            <a:ext cx="9758185" cy="1028822"/>
          </a:xfrm>
          <a:prstGeom prst="rect">
            <a:avLst/>
          </a:prstGeom>
        </p:spPr>
        <p:txBody>
          <a:bodyPr anchor="t" rtlCol="false" tIns="0" lIns="0" bIns="0" rIns="0">
            <a:spAutoFit/>
          </a:bodyPr>
          <a:lstStyle/>
          <a:p>
            <a:pPr algn="ctr">
              <a:lnSpc>
                <a:spcPts val="4193"/>
              </a:lnSpc>
            </a:pPr>
            <a:r>
              <a:rPr lang="en-US" b="true" sz="2995">
                <a:solidFill>
                  <a:srgbClr val="000000"/>
                </a:solidFill>
                <a:latin typeface="Open Sauce Bold"/>
                <a:ea typeface="Open Sauce Bold"/>
                <a:cs typeface="Open Sauce Bold"/>
                <a:sym typeface="Open Sauce Bold"/>
              </a:rPr>
              <a:t> Importance of a certain position of employee for smooth operation</a:t>
            </a:r>
          </a:p>
        </p:txBody>
      </p:sp>
      <p:sp>
        <p:nvSpPr>
          <p:cNvPr name="AutoShape 23" id="23"/>
          <p:cNvSpPr/>
          <p:nvPr/>
        </p:nvSpPr>
        <p:spPr>
          <a:xfrm flipV="true">
            <a:off x="4559016" y="4833513"/>
            <a:ext cx="3191446" cy="124"/>
          </a:xfrm>
          <a:prstGeom prst="line">
            <a:avLst/>
          </a:prstGeom>
          <a:ln cap="flat" w="38100">
            <a:solidFill>
              <a:srgbClr val="F70000"/>
            </a:solidFill>
            <a:prstDash val="solid"/>
            <a:headEnd type="none" len="sm" w="sm"/>
            <a:tailEnd type="arrow" len="sm" w="med"/>
          </a:ln>
        </p:spPr>
      </p:sp>
      <p:sp>
        <p:nvSpPr>
          <p:cNvPr name="AutoShape 24" id="24"/>
          <p:cNvSpPr/>
          <p:nvPr/>
        </p:nvSpPr>
        <p:spPr>
          <a:xfrm>
            <a:off x="6757095" y="6331772"/>
            <a:ext cx="993368" cy="9282"/>
          </a:xfrm>
          <a:prstGeom prst="line">
            <a:avLst/>
          </a:prstGeom>
          <a:ln cap="flat" w="38100">
            <a:solidFill>
              <a:srgbClr val="F70000"/>
            </a:solidFill>
            <a:prstDash val="solid"/>
            <a:headEnd type="none" len="sm" w="sm"/>
            <a:tailEnd type="arrow" len="sm" w="med"/>
          </a:ln>
        </p:spPr>
      </p:sp>
      <p:sp>
        <p:nvSpPr>
          <p:cNvPr name="AutoShape 25" id="25"/>
          <p:cNvSpPr/>
          <p:nvPr/>
        </p:nvSpPr>
        <p:spPr>
          <a:xfrm>
            <a:off x="4559016" y="3359072"/>
            <a:ext cx="3191446" cy="0"/>
          </a:xfrm>
          <a:prstGeom prst="line">
            <a:avLst/>
          </a:prstGeom>
          <a:ln cap="flat" w="38100">
            <a:solidFill>
              <a:srgbClr val="F70000"/>
            </a:solidFill>
            <a:prstDash val="solid"/>
            <a:headEnd type="none" len="sm" w="sm"/>
            <a:tailEnd type="arrow" len="sm" w="med"/>
          </a:ln>
        </p:spPr>
      </p:sp>
      <p:sp>
        <p:nvSpPr>
          <p:cNvPr name="AutoShape 26" id="26"/>
          <p:cNvSpPr/>
          <p:nvPr/>
        </p:nvSpPr>
        <p:spPr>
          <a:xfrm flipV="true">
            <a:off x="4756117" y="7691233"/>
            <a:ext cx="2994345" cy="0"/>
          </a:xfrm>
          <a:prstGeom prst="line">
            <a:avLst/>
          </a:prstGeom>
          <a:ln cap="flat" w="38100">
            <a:solidFill>
              <a:srgbClr val="F70000"/>
            </a:solidFill>
            <a:prstDash val="solid"/>
            <a:headEnd type="none" len="sm" w="sm"/>
            <a:tailEnd type="arrow" len="sm" w="med"/>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7727" y="5126051"/>
            <a:ext cx="9092976" cy="2828130"/>
          </a:xfrm>
          <a:custGeom>
            <a:avLst/>
            <a:gdLst/>
            <a:ahLst/>
            <a:cxnLst/>
            <a:rect r="r" b="b" t="t" l="l"/>
            <a:pathLst>
              <a:path h="2828130" w="9092976">
                <a:moveTo>
                  <a:pt x="0" y="0"/>
                </a:moveTo>
                <a:lnTo>
                  <a:pt x="9092976" y="0"/>
                </a:lnTo>
                <a:lnTo>
                  <a:pt x="9092976" y="2828131"/>
                </a:lnTo>
                <a:lnTo>
                  <a:pt x="0" y="2828131"/>
                </a:lnTo>
                <a:lnTo>
                  <a:pt x="0" y="0"/>
                </a:lnTo>
                <a:close/>
              </a:path>
            </a:pathLst>
          </a:custGeom>
          <a:blipFill>
            <a:blip r:embed="rId2"/>
            <a:stretch>
              <a:fillRect l="0" t="-1242" r="0" b="-1242"/>
            </a:stretch>
          </a:blipFill>
        </p:spPr>
      </p:sp>
      <p:sp>
        <p:nvSpPr>
          <p:cNvPr name="TextBox 3" id="3"/>
          <p:cNvSpPr txBox="true"/>
          <p:nvPr/>
        </p:nvSpPr>
        <p:spPr>
          <a:xfrm rot="0">
            <a:off x="2549218" y="537527"/>
            <a:ext cx="13180039" cy="887095"/>
          </a:xfrm>
          <a:prstGeom prst="rect">
            <a:avLst/>
          </a:prstGeom>
        </p:spPr>
        <p:txBody>
          <a:bodyPr anchor="t" rtlCol="false" tIns="0" lIns="0" bIns="0" rIns="0">
            <a:spAutoFit/>
          </a:bodyPr>
          <a:lstStyle/>
          <a:p>
            <a:pPr algn="ctr">
              <a:lnSpc>
                <a:spcPts val="7279"/>
              </a:lnSpc>
            </a:pPr>
            <a:r>
              <a:rPr lang="en-US" b="true" sz="5199">
                <a:solidFill>
                  <a:srgbClr val="000000"/>
                </a:solidFill>
                <a:latin typeface="Open Sauce Bold"/>
                <a:ea typeface="Open Sauce Bold"/>
                <a:cs typeface="Open Sauce Bold"/>
                <a:sym typeface="Open Sauce Bold"/>
              </a:rPr>
              <a:t>ASSUMPTIONS</a:t>
            </a:r>
          </a:p>
        </p:txBody>
      </p:sp>
      <p:sp>
        <p:nvSpPr>
          <p:cNvPr name="TextBox 4" id="4"/>
          <p:cNvSpPr txBox="true"/>
          <p:nvPr/>
        </p:nvSpPr>
        <p:spPr>
          <a:xfrm rot="0">
            <a:off x="9139238" y="4819967"/>
            <a:ext cx="9525" cy="580390"/>
          </a:xfrm>
          <a:prstGeom prst="rect">
            <a:avLst/>
          </a:prstGeom>
        </p:spPr>
        <p:txBody>
          <a:bodyPr anchor="t" rtlCol="false" tIns="0" lIns="0" bIns="0" rIns="0">
            <a:spAutoFit/>
          </a:bodyPr>
          <a:lstStyle/>
          <a:p>
            <a:pPr algn="ctr">
              <a:lnSpc>
                <a:spcPts val="4759"/>
              </a:lnSpc>
            </a:pPr>
          </a:p>
        </p:txBody>
      </p:sp>
      <p:sp>
        <p:nvSpPr>
          <p:cNvPr name="TextBox 5" id="5"/>
          <p:cNvSpPr txBox="true"/>
          <p:nvPr/>
        </p:nvSpPr>
        <p:spPr>
          <a:xfrm rot="0">
            <a:off x="942704" y="2356326"/>
            <a:ext cx="16393067" cy="1180465"/>
          </a:xfrm>
          <a:prstGeom prst="rect">
            <a:avLst/>
          </a:prstGeom>
        </p:spPr>
        <p:txBody>
          <a:bodyPr anchor="t" rtlCol="false" tIns="0" lIns="0" bIns="0" rIns="0">
            <a:spAutoFit/>
          </a:bodyPr>
          <a:lstStyle/>
          <a:p>
            <a:pPr algn="just">
              <a:lnSpc>
                <a:spcPts val="4759"/>
              </a:lnSpc>
            </a:pPr>
            <a:r>
              <a:rPr lang="en-US" sz="3399">
                <a:solidFill>
                  <a:srgbClr val="000000"/>
                </a:solidFill>
                <a:latin typeface="Open Sauce"/>
                <a:ea typeface="Open Sauce"/>
                <a:cs typeface="Open Sauce"/>
                <a:sym typeface="Open Sauce"/>
              </a:rPr>
              <a:t>Workload is defined manually by surveying the number of customers visiting</a:t>
            </a:r>
          </a:p>
          <a:p>
            <a:pPr algn="just">
              <a:lnSpc>
                <a:spcPts val="4759"/>
              </a:lnSpc>
            </a:pPr>
            <a:r>
              <a:rPr lang="en-US" sz="3399">
                <a:solidFill>
                  <a:srgbClr val="000000"/>
                </a:solidFill>
                <a:latin typeface="Open Sauce"/>
                <a:ea typeface="Open Sauce"/>
                <a:cs typeface="Open Sauce"/>
                <a:sym typeface="Open Sauce"/>
              </a:rPr>
              <a:t>the department store during specific time frames.</a:t>
            </a:r>
          </a:p>
        </p:txBody>
      </p:sp>
      <p:sp>
        <p:nvSpPr>
          <p:cNvPr name="Freeform 6" id="6"/>
          <p:cNvSpPr/>
          <p:nvPr/>
        </p:nvSpPr>
        <p:spPr>
          <a:xfrm flipH="false" flipV="false" rot="0">
            <a:off x="9834303" y="4636823"/>
            <a:ext cx="7950221" cy="3317359"/>
          </a:xfrm>
          <a:custGeom>
            <a:avLst/>
            <a:gdLst/>
            <a:ahLst/>
            <a:cxnLst/>
            <a:rect r="r" b="b" t="t" l="l"/>
            <a:pathLst>
              <a:path h="3317359" w="7950221">
                <a:moveTo>
                  <a:pt x="0" y="0"/>
                </a:moveTo>
                <a:lnTo>
                  <a:pt x="7950222" y="0"/>
                </a:lnTo>
                <a:lnTo>
                  <a:pt x="7950222" y="3317359"/>
                </a:lnTo>
                <a:lnTo>
                  <a:pt x="0" y="3317359"/>
                </a:lnTo>
                <a:lnTo>
                  <a:pt x="0" y="0"/>
                </a:lnTo>
                <a:close/>
              </a:path>
            </a:pathLst>
          </a:custGeom>
          <a:blipFill>
            <a:blip r:embed="rId3"/>
            <a:stretch>
              <a:fillRect l="0" t="0" r="0" b="0"/>
            </a:stretch>
          </a:blipFill>
        </p:spPr>
      </p:sp>
      <p:sp>
        <p:nvSpPr>
          <p:cNvPr name="TextBox 7" id="7"/>
          <p:cNvSpPr txBox="true"/>
          <p:nvPr/>
        </p:nvSpPr>
        <p:spPr>
          <a:xfrm rot="0">
            <a:off x="1913858" y="8414146"/>
            <a:ext cx="5067658" cy="4389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Table</a:t>
            </a:r>
            <a:r>
              <a:rPr lang="en-US" sz="2592" strike="noStrike" u="none">
                <a:solidFill>
                  <a:srgbClr val="000000"/>
                </a:solidFill>
                <a:latin typeface="Open Sauce"/>
                <a:ea typeface="Open Sauce"/>
                <a:cs typeface="Open Sauce"/>
                <a:sym typeface="Open Sauce"/>
              </a:rPr>
              <a:t>: Shift and Workload Level</a:t>
            </a:r>
          </a:p>
        </p:txBody>
      </p:sp>
      <p:sp>
        <p:nvSpPr>
          <p:cNvPr name="TextBox 8" id="8"/>
          <p:cNvSpPr txBox="true"/>
          <p:nvPr/>
        </p:nvSpPr>
        <p:spPr>
          <a:xfrm rot="0">
            <a:off x="11228139" y="8414146"/>
            <a:ext cx="5162550" cy="4389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Table</a:t>
            </a:r>
            <a:r>
              <a:rPr lang="en-US" sz="2592" strike="noStrike" u="none">
                <a:solidFill>
                  <a:srgbClr val="000000"/>
                </a:solidFill>
                <a:latin typeface="Open Sauce"/>
                <a:ea typeface="Open Sauce"/>
                <a:cs typeface="Open Sauce"/>
                <a:sym typeface="Open Sauce"/>
              </a:rPr>
              <a:t>: Position and Priority Level</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434686" y="3017565"/>
            <a:ext cx="2476010" cy="791338"/>
            <a:chOff x="0" y="0"/>
            <a:chExt cx="652118" cy="208418"/>
          </a:xfrm>
        </p:grpSpPr>
        <p:sp>
          <p:nvSpPr>
            <p:cNvPr name="Freeform 3" id="3"/>
            <p:cNvSpPr/>
            <p:nvPr/>
          </p:nvSpPr>
          <p:spPr>
            <a:xfrm flipH="false" flipV="false" rot="0">
              <a:off x="0" y="0"/>
              <a:ext cx="652118" cy="208418"/>
            </a:xfrm>
            <a:custGeom>
              <a:avLst/>
              <a:gdLst/>
              <a:ahLst/>
              <a:cxnLst/>
              <a:rect r="r" b="b" t="t" l="l"/>
              <a:pathLst>
                <a:path h="208418" w="652118">
                  <a:moveTo>
                    <a:pt x="0" y="0"/>
                  </a:moveTo>
                  <a:lnTo>
                    <a:pt x="652118" y="0"/>
                  </a:lnTo>
                  <a:lnTo>
                    <a:pt x="652118" y="208418"/>
                  </a:lnTo>
                  <a:lnTo>
                    <a:pt x="0" y="208418"/>
                  </a:lnTo>
                  <a:close/>
                </a:path>
              </a:pathLst>
            </a:custGeom>
            <a:solidFill>
              <a:srgbClr val="FFFFFF"/>
            </a:solidFill>
            <a:ln w="38100" cap="sq">
              <a:solidFill>
                <a:srgbClr val="000000"/>
              </a:solidFill>
              <a:prstDash val="solid"/>
              <a:miter/>
            </a:ln>
          </p:spPr>
        </p:sp>
        <p:sp>
          <p:nvSpPr>
            <p:cNvPr name="TextBox 4" id="4"/>
            <p:cNvSpPr txBox="true"/>
            <p:nvPr/>
          </p:nvSpPr>
          <p:spPr>
            <a:xfrm>
              <a:off x="0" y="-38100"/>
              <a:ext cx="652118" cy="24651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518990" y="808357"/>
            <a:ext cx="6104849" cy="3902601"/>
            <a:chOff x="0" y="0"/>
            <a:chExt cx="1607861" cy="1027846"/>
          </a:xfrm>
        </p:grpSpPr>
        <p:sp>
          <p:nvSpPr>
            <p:cNvPr name="Freeform 6" id="6"/>
            <p:cNvSpPr/>
            <p:nvPr/>
          </p:nvSpPr>
          <p:spPr>
            <a:xfrm flipH="false" flipV="false" rot="0">
              <a:off x="0" y="0"/>
              <a:ext cx="1607861" cy="1027845"/>
            </a:xfrm>
            <a:custGeom>
              <a:avLst/>
              <a:gdLst/>
              <a:ahLst/>
              <a:cxnLst/>
              <a:rect r="r" b="b" t="t" l="l"/>
              <a:pathLst>
                <a:path h="1027845" w="1607861">
                  <a:moveTo>
                    <a:pt x="0" y="0"/>
                  </a:moveTo>
                  <a:lnTo>
                    <a:pt x="1607861" y="0"/>
                  </a:lnTo>
                  <a:lnTo>
                    <a:pt x="1607861" y="1027845"/>
                  </a:lnTo>
                  <a:lnTo>
                    <a:pt x="0" y="1027845"/>
                  </a:lnTo>
                  <a:close/>
                </a:path>
              </a:pathLst>
            </a:custGeom>
            <a:solidFill>
              <a:srgbClr val="FFFFFF"/>
            </a:solidFill>
            <a:ln w="38100" cap="sq">
              <a:solidFill>
                <a:srgbClr val="F70000"/>
              </a:solidFill>
              <a:prstDash val="solid"/>
              <a:miter/>
            </a:ln>
          </p:spPr>
        </p:sp>
        <p:sp>
          <p:nvSpPr>
            <p:cNvPr name="TextBox 7" id="7"/>
            <p:cNvSpPr txBox="true"/>
            <p:nvPr/>
          </p:nvSpPr>
          <p:spPr>
            <a:xfrm>
              <a:off x="0" y="-38100"/>
              <a:ext cx="1607861" cy="106594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28700" y="1238081"/>
            <a:ext cx="9144000" cy="877784"/>
          </a:xfrm>
          <a:prstGeom prst="rect">
            <a:avLst/>
          </a:prstGeom>
        </p:spPr>
        <p:txBody>
          <a:bodyPr anchor="t" rtlCol="false" tIns="0" lIns="0" bIns="0" rIns="0">
            <a:spAutoFit/>
          </a:bodyPr>
          <a:lstStyle/>
          <a:p>
            <a:pPr algn="ctr">
              <a:lnSpc>
                <a:spcPts val="7268"/>
              </a:lnSpc>
              <a:spcBef>
                <a:spcPct val="0"/>
              </a:spcBef>
            </a:pPr>
            <a:r>
              <a:rPr lang="en-US" b="true" sz="5191">
                <a:solidFill>
                  <a:srgbClr val="000000"/>
                </a:solidFill>
                <a:latin typeface="Open Sauce Bold"/>
                <a:ea typeface="Open Sauce Bold"/>
                <a:cs typeface="Open Sauce Bold"/>
                <a:sym typeface="Open Sauce Bold"/>
              </a:rPr>
              <a:t>MAX WORKING HOURS</a:t>
            </a:r>
            <a:r>
              <a:rPr lang="en-US" b="true" sz="5191">
                <a:solidFill>
                  <a:srgbClr val="000000"/>
                </a:solidFill>
                <a:latin typeface="Open Sauce Bold"/>
                <a:ea typeface="Open Sauce Bold"/>
                <a:cs typeface="Open Sauce Bold"/>
                <a:sym typeface="Open Sauce Bold"/>
              </a:rPr>
              <a:t> </a:t>
            </a:r>
          </a:p>
        </p:txBody>
      </p:sp>
      <p:sp>
        <p:nvSpPr>
          <p:cNvPr name="TextBox 9" id="9"/>
          <p:cNvSpPr txBox="true"/>
          <p:nvPr/>
        </p:nvSpPr>
        <p:spPr>
          <a:xfrm rot="0">
            <a:off x="1294936" y="3097567"/>
            <a:ext cx="8957215" cy="580603"/>
          </a:xfrm>
          <a:prstGeom prst="rect">
            <a:avLst/>
          </a:prstGeom>
        </p:spPr>
        <p:txBody>
          <a:bodyPr anchor="t" rtlCol="false" tIns="0" lIns="0" bIns="0" rIns="0">
            <a:spAutoFit/>
          </a:bodyPr>
          <a:lstStyle/>
          <a:p>
            <a:pPr algn="ctr" marL="732252" indent="-366126" lvl="1">
              <a:lnSpc>
                <a:spcPts val="4748"/>
              </a:lnSpc>
              <a:buFont typeface="Arial"/>
              <a:buChar char="•"/>
            </a:pPr>
            <a:r>
              <a:rPr lang="en-US" sz="3391">
                <a:solidFill>
                  <a:srgbClr val="000000"/>
                </a:solidFill>
                <a:latin typeface="Open Sauce"/>
                <a:ea typeface="Open Sauce"/>
                <a:cs typeface="Open Sauce"/>
                <a:sym typeface="Open Sauce"/>
              </a:rPr>
              <a:t>Represented in form of   dictionary </a:t>
            </a:r>
          </a:p>
        </p:txBody>
      </p:sp>
      <p:sp>
        <p:nvSpPr>
          <p:cNvPr name="TextBox 10" id="10"/>
          <p:cNvSpPr txBox="true"/>
          <p:nvPr/>
        </p:nvSpPr>
        <p:spPr>
          <a:xfrm rot="0">
            <a:off x="10092365" y="883985"/>
            <a:ext cx="8958099" cy="4781593"/>
          </a:xfrm>
          <a:prstGeom prst="rect">
            <a:avLst/>
          </a:prstGeom>
        </p:spPr>
        <p:txBody>
          <a:bodyPr anchor="t" rtlCol="false" tIns="0" lIns="0" bIns="0" rIns="0">
            <a:spAutoFit/>
          </a:bodyPr>
          <a:lstStyle/>
          <a:p>
            <a:pPr algn="ctr">
              <a:lnSpc>
                <a:spcPts val="4748"/>
              </a:lnSpc>
            </a:pPr>
            <a:r>
              <a:rPr lang="en-US" sz="3391">
                <a:solidFill>
                  <a:srgbClr val="000000"/>
                </a:solidFill>
                <a:latin typeface="Open Sauce"/>
                <a:ea typeface="Open Sauce"/>
                <a:cs typeface="Open Sauce"/>
                <a:sym typeface="Open Sauce"/>
              </a:rPr>
              <a:t>{ “Cashier” : 46 , </a:t>
            </a:r>
          </a:p>
          <a:p>
            <a:pPr algn="ctr">
              <a:lnSpc>
                <a:spcPts val="4748"/>
              </a:lnSpc>
            </a:pPr>
            <a:r>
              <a:rPr lang="en-US" sz="3391">
                <a:solidFill>
                  <a:srgbClr val="000000"/>
                </a:solidFill>
                <a:latin typeface="Open Sauce"/>
                <a:ea typeface="Open Sauce"/>
                <a:cs typeface="Open Sauce"/>
                <a:sym typeface="Open Sauce"/>
              </a:rPr>
              <a:t>“Inventory Manager” : 38 ,</a:t>
            </a:r>
          </a:p>
          <a:p>
            <a:pPr algn="ctr">
              <a:lnSpc>
                <a:spcPts val="4748"/>
              </a:lnSpc>
            </a:pPr>
            <a:r>
              <a:rPr lang="en-US" sz="3391">
                <a:solidFill>
                  <a:srgbClr val="000000"/>
                </a:solidFill>
                <a:latin typeface="Open Sauce"/>
                <a:ea typeface="Open Sauce"/>
                <a:cs typeface="Open Sauce"/>
                <a:sym typeface="Open Sauce"/>
              </a:rPr>
              <a:t>“Supervisor” : 56 ,</a:t>
            </a:r>
          </a:p>
          <a:p>
            <a:pPr algn="ctr">
              <a:lnSpc>
                <a:spcPts val="4748"/>
              </a:lnSpc>
            </a:pPr>
            <a:r>
              <a:rPr lang="en-US" sz="3391">
                <a:solidFill>
                  <a:srgbClr val="000000"/>
                </a:solidFill>
                <a:latin typeface="Open Sauce"/>
                <a:ea typeface="Open Sauce"/>
                <a:cs typeface="Open Sauce"/>
                <a:sym typeface="Open Sauce"/>
              </a:rPr>
              <a:t>“Cleaning Staff” : 48 ,</a:t>
            </a:r>
          </a:p>
          <a:p>
            <a:pPr algn="ctr">
              <a:lnSpc>
                <a:spcPts val="4748"/>
              </a:lnSpc>
            </a:pPr>
            <a:r>
              <a:rPr lang="en-US" sz="3391">
                <a:solidFill>
                  <a:srgbClr val="000000"/>
                </a:solidFill>
                <a:latin typeface="Open Sauce"/>
                <a:ea typeface="Open Sauce"/>
                <a:cs typeface="Open Sauce"/>
                <a:sym typeface="Open Sauce"/>
              </a:rPr>
              <a:t>“Customer Help” : 42 ,</a:t>
            </a:r>
          </a:p>
          <a:p>
            <a:pPr algn="ctr">
              <a:lnSpc>
                <a:spcPts val="4748"/>
              </a:lnSpc>
            </a:pPr>
            <a:r>
              <a:rPr lang="en-US" sz="3391">
                <a:solidFill>
                  <a:srgbClr val="000000"/>
                </a:solidFill>
                <a:latin typeface="Open Sauce"/>
                <a:ea typeface="Open Sauce"/>
                <a:cs typeface="Open Sauce"/>
                <a:sym typeface="Open Sauce"/>
              </a:rPr>
              <a:t>“Manager”: 58 }</a:t>
            </a:r>
          </a:p>
          <a:p>
            <a:pPr algn="ctr">
              <a:lnSpc>
                <a:spcPts val="4748"/>
              </a:lnSpc>
            </a:pPr>
          </a:p>
          <a:p>
            <a:pPr algn="ctr">
              <a:lnSpc>
                <a:spcPts val="4748"/>
              </a:lnSpc>
            </a:pPr>
          </a:p>
        </p:txBody>
      </p:sp>
      <p:sp>
        <p:nvSpPr>
          <p:cNvPr name="AutoShape 11" id="11"/>
          <p:cNvSpPr/>
          <p:nvPr/>
        </p:nvSpPr>
        <p:spPr>
          <a:xfrm>
            <a:off x="9910696" y="3413234"/>
            <a:ext cx="1608294" cy="0"/>
          </a:xfrm>
          <a:prstGeom prst="line">
            <a:avLst/>
          </a:prstGeom>
          <a:ln cap="flat" w="95250">
            <a:solidFill>
              <a:srgbClr val="F70000"/>
            </a:solidFill>
            <a:prstDash val="solid"/>
            <a:headEnd type="none" len="sm" w="sm"/>
            <a:tailEnd type="arrow" len="sm" w="med"/>
          </a:ln>
        </p:spPr>
      </p:sp>
      <p:sp>
        <p:nvSpPr>
          <p:cNvPr name="TextBox 12" id="12"/>
          <p:cNvSpPr txBox="true"/>
          <p:nvPr/>
        </p:nvSpPr>
        <p:spPr>
          <a:xfrm rot="0">
            <a:off x="1770240" y="4615708"/>
            <a:ext cx="9748750" cy="877784"/>
          </a:xfrm>
          <a:prstGeom prst="rect">
            <a:avLst/>
          </a:prstGeom>
        </p:spPr>
        <p:txBody>
          <a:bodyPr anchor="t" rtlCol="false" tIns="0" lIns="0" bIns="0" rIns="0">
            <a:spAutoFit/>
          </a:bodyPr>
          <a:lstStyle/>
          <a:p>
            <a:pPr algn="l">
              <a:lnSpc>
                <a:spcPts val="7268"/>
              </a:lnSpc>
              <a:spcBef>
                <a:spcPct val="0"/>
              </a:spcBef>
            </a:pPr>
            <a:r>
              <a:rPr lang="en-US" b="true" sz="5191">
                <a:solidFill>
                  <a:srgbClr val="000000"/>
                </a:solidFill>
                <a:latin typeface="Open Sauce Bold"/>
                <a:ea typeface="Open Sauce Bold"/>
                <a:cs typeface="Open Sauce Bold"/>
                <a:sym typeface="Open Sauce Bold"/>
              </a:rPr>
              <a:t>MAX SHIFTS PER DAY</a:t>
            </a:r>
          </a:p>
        </p:txBody>
      </p:sp>
      <p:sp>
        <p:nvSpPr>
          <p:cNvPr name="TextBox 13" id="13"/>
          <p:cNvSpPr txBox="true"/>
          <p:nvPr/>
        </p:nvSpPr>
        <p:spPr>
          <a:xfrm rot="0">
            <a:off x="1294936" y="5987280"/>
            <a:ext cx="13947048" cy="2980903"/>
          </a:xfrm>
          <a:prstGeom prst="rect">
            <a:avLst/>
          </a:prstGeom>
        </p:spPr>
        <p:txBody>
          <a:bodyPr anchor="t" rtlCol="false" tIns="0" lIns="0" bIns="0" rIns="0">
            <a:spAutoFit/>
          </a:bodyPr>
          <a:lstStyle/>
          <a:p>
            <a:pPr algn="l" marL="732252" indent="-366126" lvl="1">
              <a:lnSpc>
                <a:spcPts val="4748"/>
              </a:lnSpc>
              <a:buFont typeface="Arial"/>
              <a:buChar char="•"/>
            </a:pPr>
            <a:r>
              <a:rPr lang="en-US" sz="3391">
                <a:solidFill>
                  <a:srgbClr val="000000"/>
                </a:solidFill>
                <a:latin typeface="Open Sauce"/>
                <a:ea typeface="Open Sauce"/>
                <a:cs typeface="Open Sauce"/>
                <a:sym typeface="Open Sauce"/>
              </a:rPr>
              <a:t>An employee can work a maximum of 2 shifts per day</a:t>
            </a:r>
          </a:p>
          <a:p>
            <a:pPr algn="l">
              <a:lnSpc>
                <a:spcPts val="4748"/>
              </a:lnSpc>
            </a:pPr>
          </a:p>
          <a:p>
            <a:pPr algn="l" marL="732252" indent="-366126" lvl="1">
              <a:lnSpc>
                <a:spcPts val="4748"/>
              </a:lnSpc>
              <a:buFont typeface="Arial"/>
              <a:buChar char="•"/>
            </a:pPr>
            <a:r>
              <a:rPr lang="en-US" sz="3391">
                <a:solidFill>
                  <a:srgbClr val="000000"/>
                </a:solidFill>
                <a:latin typeface="Open Sauce"/>
                <a:ea typeface="Open Sauce"/>
                <a:cs typeface="Open Sauce"/>
                <a:sym typeface="Open Sauce"/>
              </a:rPr>
              <a:t>If working on multiple shifts , the shifts must not be consecutive i.e </a:t>
            </a:r>
          </a:p>
          <a:p>
            <a:pPr algn="ctr">
              <a:lnSpc>
                <a:spcPts val="4748"/>
              </a:lnSpc>
            </a:pPr>
            <a:r>
              <a:rPr lang="en-US" sz="3391">
                <a:solidFill>
                  <a:srgbClr val="000000"/>
                </a:solidFill>
                <a:latin typeface="Open Sauce"/>
                <a:ea typeface="Open Sauce"/>
                <a:cs typeface="Open Sauce"/>
                <a:sym typeface="Open Sauce"/>
              </a:rPr>
              <a:t>(Morning , Day )  is not possible</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874246" y="4471562"/>
            <a:ext cx="6539508" cy="1087970"/>
          </a:xfrm>
          <a:prstGeom prst="rect">
            <a:avLst/>
          </a:prstGeom>
        </p:spPr>
        <p:txBody>
          <a:bodyPr anchor="t" rtlCol="false" tIns="0" lIns="0" bIns="0" rIns="0">
            <a:spAutoFit/>
          </a:bodyPr>
          <a:lstStyle/>
          <a:p>
            <a:pPr algn="ctr">
              <a:lnSpc>
                <a:spcPts val="8808"/>
              </a:lnSpc>
              <a:spcBef>
                <a:spcPct val="0"/>
              </a:spcBef>
            </a:pPr>
            <a:r>
              <a:rPr lang="en-US" b="true" sz="6291">
                <a:solidFill>
                  <a:srgbClr val="000000"/>
                </a:solidFill>
                <a:latin typeface="Open Sauce Bold"/>
                <a:ea typeface="Open Sauce Bold"/>
                <a:cs typeface="Open Sauce Bold"/>
                <a:sym typeface="Open Sauce Bold"/>
              </a:rPr>
              <a:t>METHODOLOGY</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49996" y="4481087"/>
            <a:ext cx="13588008" cy="1045424"/>
          </a:xfrm>
          <a:prstGeom prst="rect">
            <a:avLst/>
          </a:prstGeom>
        </p:spPr>
        <p:txBody>
          <a:bodyPr anchor="t" rtlCol="false" tIns="0" lIns="0" bIns="0" rIns="0">
            <a:spAutoFit/>
          </a:bodyPr>
          <a:lstStyle/>
          <a:p>
            <a:pPr algn="ctr">
              <a:lnSpc>
                <a:spcPts val="8528"/>
              </a:lnSpc>
              <a:spcBef>
                <a:spcPct val="0"/>
              </a:spcBef>
            </a:pPr>
            <a:r>
              <a:rPr lang="en-US" b="true" sz="6091">
                <a:solidFill>
                  <a:srgbClr val="000000"/>
                </a:solidFill>
                <a:latin typeface="Open Sauce Bold"/>
                <a:ea typeface="Open Sauce Bold"/>
                <a:cs typeface="Open Sauce Bold"/>
                <a:sym typeface="Open Sauce Bold"/>
              </a:rPr>
              <a:t>HOW ARE THE SHIFTS ASSIGNED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89283" y="1231297"/>
            <a:ext cx="11509434" cy="8027003"/>
          </a:xfrm>
          <a:custGeom>
            <a:avLst/>
            <a:gdLst/>
            <a:ahLst/>
            <a:cxnLst/>
            <a:rect r="r" b="b" t="t" l="l"/>
            <a:pathLst>
              <a:path h="8027003" w="11509434">
                <a:moveTo>
                  <a:pt x="0" y="0"/>
                </a:moveTo>
                <a:lnTo>
                  <a:pt x="11509434" y="0"/>
                </a:lnTo>
                <a:lnTo>
                  <a:pt x="11509434" y="8027003"/>
                </a:lnTo>
                <a:lnTo>
                  <a:pt x="0" y="8027003"/>
                </a:lnTo>
                <a:lnTo>
                  <a:pt x="0" y="0"/>
                </a:lnTo>
                <a:close/>
              </a:path>
            </a:pathLst>
          </a:custGeom>
          <a:blipFill>
            <a:blip r:embed="rId2"/>
            <a:stretch>
              <a:fillRect l="0" t="0" r="0" b="0"/>
            </a:stretch>
          </a:blipFill>
        </p:spPr>
      </p:sp>
      <p:sp>
        <p:nvSpPr>
          <p:cNvPr name="TextBox 3" id="3"/>
          <p:cNvSpPr txBox="true"/>
          <p:nvPr/>
        </p:nvSpPr>
        <p:spPr>
          <a:xfrm rot="0">
            <a:off x="3626763" y="396221"/>
            <a:ext cx="11034474"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DATABASE SCHEMA STRUCTURE</a:t>
            </a:r>
          </a:p>
        </p:txBody>
      </p:sp>
      <p:sp>
        <p:nvSpPr>
          <p:cNvPr name="TextBox 4" id="4"/>
          <p:cNvSpPr txBox="true"/>
          <p:nvPr/>
        </p:nvSpPr>
        <p:spPr>
          <a:xfrm rot="0">
            <a:off x="3928971" y="9210675"/>
            <a:ext cx="10430058" cy="4389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Figure</a:t>
            </a:r>
            <a:r>
              <a:rPr lang="en-US" sz="2592" strike="noStrike" u="none">
                <a:solidFill>
                  <a:srgbClr val="000000"/>
                </a:solidFill>
                <a:latin typeface="Open Sauce"/>
                <a:ea typeface="Open Sauce"/>
                <a:cs typeface="Open Sauce"/>
                <a:sym typeface="Open Sauce"/>
              </a:rPr>
              <a:t>:  Database Schema Structure of Shift and Employee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54302" y="1559799"/>
            <a:ext cx="13779397" cy="7167402"/>
          </a:xfrm>
          <a:custGeom>
            <a:avLst/>
            <a:gdLst/>
            <a:ahLst/>
            <a:cxnLst/>
            <a:rect r="r" b="b" t="t" l="l"/>
            <a:pathLst>
              <a:path h="7167402" w="13779397">
                <a:moveTo>
                  <a:pt x="0" y="0"/>
                </a:moveTo>
                <a:lnTo>
                  <a:pt x="13779396" y="0"/>
                </a:lnTo>
                <a:lnTo>
                  <a:pt x="13779396" y="7167402"/>
                </a:lnTo>
                <a:lnTo>
                  <a:pt x="0" y="7167402"/>
                </a:lnTo>
                <a:lnTo>
                  <a:pt x="0" y="0"/>
                </a:lnTo>
                <a:close/>
              </a:path>
            </a:pathLst>
          </a:custGeom>
          <a:blipFill>
            <a:blip r:embed="rId2"/>
            <a:stretch>
              <a:fillRect l="0" t="0" r="0" b="0"/>
            </a:stretch>
          </a:blipFill>
        </p:spPr>
      </p:sp>
      <p:sp>
        <p:nvSpPr>
          <p:cNvPr name="TextBox 3" id="3"/>
          <p:cNvSpPr txBox="true"/>
          <p:nvPr/>
        </p:nvSpPr>
        <p:spPr>
          <a:xfrm rot="0">
            <a:off x="3928971" y="9210675"/>
            <a:ext cx="10430058" cy="4389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Figure</a:t>
            </a:r>
            <a:r>
              <a:rPr lang="en-US" sz="2592" strike="noStrike" u="none">
                <a:solidFill>
                  <a:srgbClr val="000000"/>
                </a:solidFill>
                <a:latin typeface="Open Sauce"/>
                <a:ea typeface="Open Sauce"/>
                <a:cs typeface="Open Sauce"/>
                <a:sym typeface="Open Sauce"/>
              </a:rPr>
              <a:t>:  Link between Shift and Employee</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925973" y="933450"/>
            <a:ext cx="8436054"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ASSIGNMENT FUNCTION </a:t>
            </a:r>
          </a:p>
        </p:txBody>
      </p:sp>
      <p:sp>
        <p:nvSpPr>
          <p:cNvPr name="TextBox 3" id="3"/>
          <p:cNvSpPr txBox="true"/>
          <p:nvPr/>
        </p:nvSpPr>
        <p:spPr>
          <a:xfrm rot="0">
            <a:off x="-3170602" y="2803949"/>
            <a:ext cx="12314602" cy="663741"/>
          </a:xfrm>
          <a:prstGeom prst="rect">
            <a:avLst/>
          </a:prstGeom>
        </p:spPr>
        <p:txBody>
          <a:bodyPr anchor="t" rtlCol="false" tIns="0" lIns="0" bIns="0" rIns="0">
            <a:spAutoFit/>
          </a:bodyPr>
          <a:lstStyle/>
          <a:p>
            <a:pPr algn="ctr">
              <a:lnSpc>
                <a:spcPts val="5415"/>
              </a:lnSpc>
              <a:spcBef>
                <a:spcPct val="0"/>
              </a:spcBef>
            </a:pPr>
            <a:r>
              <a:rPr lang="en-US" sz="3868" u="sng">
                <a:solidFill>
                  <a:srgbClr val="000000"/>
                </a:solidFill>
                <a:latin typeface="Open Sauce"/>
                <a:ea typeface="Open Sauce"/>
                <a:cs typeface="Open Sauce"/>
                <a:sym typeface="Open Sauce"/>
              </a:rPr>
              <a:t>Parameters</a:t>
            </a:r>
          </a:p>
        </p:txBody>
      </p:sp>
      <p:sp>
        <p:nvSpPr>
          <p:cNvPr name="TextBox 4" id="4"/>
          <p:cNvSpPr txBox="true"/>
          <p:nvPr/>
        </p:nvSpPr>
        <p:spPr>
          <a:xfrm rot="0">
            <a:off x="1028700" y="3832761"/>
            <a:ext cx="13867983" cy="3692738"/>
          </a:xfrm>
          <a:prstGeom prst="rect">
            <a:avLst/>
          </a:prstGeom>
        </p:spPr>
        <p:txBody>
          <a:bodyPr anchor="t" rtlCol="false" tIns="0" lIns="0" bIns="0" rIns="0">
            <a:spAutoFit/>
          </a:bodyPr>
          <a:lstStyle/>
          <a:p>
            <a:pPr algn="l" marL="753842" indent="-376921" lvl="1">
              <a:lnSpc>
                <a:spcPts val="4888"/>
              </a:lnSpc>
              <a:buFont typeface="Arial"/>
              <a:buChar char="•"/>
            </a:pPr>
            <a:r>
              <a:rPr lang="en-US" b="true" sz="3491">
                <a:solidFill>
                  <a:srgbClr val="000000"/>
                </a:solidFill>
                <a:latin typeface="Open Sauce Bold"/>
                <a:ea typeface="Open Sauce Bold"/>
                <a:cs typeface="Open Sauce Bold"/>
                <a:sym typeface="Open Sauce Bold"/>
              </a:rPr>
              <a:t>shifts </a:t>
            </a:r>
            <a:r>
              <a:rPr lang="en-US" sz="3491">
                <a:solidFill>
                  <a:srgbClr val="000000"/>
                </a:solidFill>
                <a:latin typeface="Open Sauce"/>
                <a:ea typeface="Open Sauce"/>
                <a:cs typeface="Open Sauce"/>
                <a:sym typeface="Open Sauce"/>
              </a:rPr>
              <a:t>- dictionary of shifts for each day</a:t>
            </a:r>
          </a:p>
          <a:p>
            <a:pPr algn="l" marL="753842" indent="-376921" lvl="1">
              <a:lnSpc>
                <a:spcPts val="4888"/>
              </a:lnSpc>
              <a:buFont typeface="Arial"/>
              <a:buChar char="•"/>
            </a:pPr>
            <a:r>
              <a:rPr lang="en-US" b="true" sz="3491">
                <a:solidFill>
                  <a:srgbClr val="000000"/>
                </a:solidFill>
                <a:latin typeface="Open Sauce Bold"/>
                <a:ea typeface="Open Sauce Bold"/>
                <a:cs typeface="Open Sauce Bold"/>
                <a:sym typeface="Open Sauce Bold"/>
              </a:rPr>
              <a:t>employees_by_designation</a:t>
            </a:r>
            <a:r>
              <a:rPr lang="en-US" sz="3491">
                <a:solidFill>
                  <a:srgbClr val="000000"/>
                </a:solidFill>
                <a:latin typeface="Open Sauce"/>
                <a:ea typeface="Open Sauce"/>
                <a:cs typeface="Open Sauce"/>
                <a:sym typeface="Open Sauce"/>
              </a:rPr>
              <a:t> - dictionary of employees grouped by designation </a:t>
            </a:r>
          </a:p>
          <a:p>
            <a:pPr algn="l" marL="753842" indent="-376921" lvl="1">
              <a:lnSpc>
                <a:spcPts val="4888"/>
              </a:lnSpc>
              <a:buFont typeface="Arial"/>
              <a:buChar char="•"/>
            </a:pPr>
            <a:r>
              <a:rPr lang="en-US" b="true" sz="3491">
                <a:solidFill>
                  <a:srgbClr val="000000"/>
                </a:solidFill>
                <a:latin typeface="Open Sauce Bold"/>
                <a:ea typeface="Open Sauce Bold"/>
                <a:cs typeface="Open Sauce Bold"/>
                <a:sym typeface="Open Sauce Bold"/>
              </a:rPr>
              <a:t>designation_counts</a:t>
            </a:r>
            <a:r>
              <a:rPr lang="en-US" sz="3491">
                <a:solidFill>
                  <a:srgbClr val="000000"/>
                </a:solidFill>
                <a:latin typeface="Open Sauce"/>
                <a:ea typeface="Open Sauce"/>
                <a:cs typeface="Open Sauce"/>
                <a:sym typeface="Open Sauce"/>
              </a:rPr>
              <a:t> </a:t>
            </a:r>
          </a:p>
          <a:p>
            <a:pPr algn="l" marL="753842" indent="-376921" lvl="1">
              <a:lnSpc>
                <a:spcPts val="4888"/>
              </a:lnSpc>
              <a:buFont typeface="Arial"/>
              <a:buChar char="•"/>
            </a:pPr>
            <a:r>
              <a:rPr lang="en-US" b="true" sz="3491">
                <a:solidFill>
                  <a:srgbClr val="000000"/>
                </a:solidFill>
                <a:latin typeface="Open Sauce Bold"/>
                <a:ea typeface="Open Sauce Bold"/>
                <a:cs typeface="Open Sauce Bold"/>
                <a:sym typeface="Open Sauce Bold"/>
              </a:rPr>
              <a:t>MAX_WORKING_HOURS</a:t>
            </a:r>
            <a:r>
              <a:rPr lang="en-US" sz="3491">
                <a:solidFill>
                  <a:srgbClr val="000000"/>
                </a:solidFill>
                <a:latin typeface="Open Sauce"/>
                <a:ea typeface="Open Sauce"/>
                <a:cs typeface="Open Sauce"/>
                <a:sym typeface="Open Sauce"/>
              </a:rPr>
              <a:t> </a:t>
            </a:r>
          </a:p>
          <a:p>
            <a:pPr algn="l" marL="753842" indent="-376921" lvl="1">
              <a:lnSpc>
                <a:spcPts val="4888"/>
              </a:lnSpc>
              <a:buFont typeface="Arial"/>
              <a:buChar char="•"/>
            </a:pPr>
            <a:r>
              <a:rPr lang="en-US" b="true" sz="3491">
                <a:solidFill>
                  <a:srgbClr val="000000"/>
                </a:solidFill>
                <a:latin typeface="Open Sauce Bold"/>
                <a:ea typeface="Open Sauce Bold"/>
                <a:cs typeface="Open Sauce Bold"/>
                <a:sym typeface="Open Sauce Bold"/>
              </a:rPr>
              <a:t>MAX_SHIFTS_PER_DAY</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321447" y="6070701"/>
            <a:ext cx="4937853" cy="3187599"/>
            <a:chOff x="0" y="0"/>
            <a:chExt cx="1006024" cy="649433"/>
          </a:xfrm>
        </p:grpSpPr>
        <p:sp>
          <p:nvSpPr>
            <p:cNvPr name="Freeform 3" id="3"/>
            <p:cNvSpPr/>
            <p:nvPr/>
          </p:nvSpPr>
          <p:spPr>
            <a:xfrm flipH="false" flipV="false" rot="0">
              <a:off x="0" y="0"/>
              <a:ext cx="1006024" cy="649433"/>
            </a:xfrm>
            <a:custGeom>
              <a:avLst/>
              <a:gdLst/>
              <a:ahLst/>
              <a:cxnLst/>
              <a:rect r="r" b="b" t="t" l="l"/>
              <a:pathLst>
                <a:path h="649433" w="1006024">
                  <a:moveTo>
                    <a:pt x="0" y="0"/>
                  </a:moveTo>
                  <a:lnTo>
                    <a:pt x="1006024" y="0"/>
                  </a:lnTo>
                  <a:lnTo>
                    <a:pt x="1006024" y="649433"/>
                  </a:lnTo>
                  <a:lnTo>
                    <a:pt x="0" y="649433"/>
                  </a:lnTo>
                  <a:close/>
                </a:path>
              </a:pathLst>
            </a:custGeom>
            <a:solidFill>
              <a:srgbClr val="FFFFFF"/>
            </a:solidFill>
            <a:ln w="38100" cap="sq">
              <a:solidFill>
                <a:srgbClr val="F70000"/>
              </a:solidFill>
              <a:prstDash val="solid"/>
              <a:miter/>
            </a:ln>
          </p:spPr>
        </p:sp>
        <p:sp>
          <p:nvSpPr>
            <p:cNvPr name="TextBox 4" id="4"/>
            <p:cNvSpPr txBox="true"/>
            <p:nvPr/>
          </p:nvSpPr>
          <p:spPr>
            <a:xfrm>
              <a:off x="0" y="-38100"/>
              <a:ext cx="1006024" cy="687533"/>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4860109" y="3105060"/>
            <a:ext cx="0" cy="2965639"/>
          </a:xfrm>
          <a:prstGeom prst="line">
            <a:avLst/>
          </a:prstGeom>
          <a:ln cap="flat" w="104775">
            <a:solidFill>
              <a:srgbClr val="F70000"/>
            </a:solidFill>
            <a:prstDash val="solid"/>
            <a:headEnd type="none" len="sm" w="sm"/>
            <a:tailEnd type="arrow" len="sm" w="med"/>
          </a:ln>
        </p:spPr>
      </p:sp>
      <p:sp>
        <p:nvSpPr>
          <p:cNvPr name="AutoShape 6" id="6"/>
          <p:cNvSpPr/>
          <p:nvPr/>
        </p:nvSpPr>
        <p:spPr>
          <a:xfrm>
            <a:off x="10983260" y="3105060"/>
            <a:ext cx="3876849" cy="0"/>
          </a:xfrm>
          <a:prstGeom prst="line">
            <a:avLst/>
          </a:prstGeom>
          <a:ln cap="flat" w="104775">
            <a:solidFill>
              <a:srgbClr val="F70000"/>
            </a:solidFill>
            <a:prstDash val="solid"/>
            <a:headEnd type="none" len="sm" w="sm"/>
            <a:tailEnd type="none" len="sm" w="sm"/>
          </a:ln>
        </p:spPr>
      </p:sp>
      <p:grpSp>
        <p:nvGrpSpPr>
          <p:cNvPr name="Group 7" id="7"/>
          <p:cNvGrpSpPr/>
          <p:nvPr/>
        </p:nvGrpSpPr>
        <p:grpSpPr>
          <a:xfrm rot="0">
            <a:off x="9293856" y="2652910"/>
            <a:ext cx="1689404" cy="904300"/>
            <a:chOff x="0" y="0"/>
            <a:chExt cx="444946" cy="238170"/>
          </a:xfrm>
        </p:grpSpPr>
        <p:sp>
          <p:nvSpPr>
            <p:cNvPr name="Freeform 8" id="8"/>
            <p:cNvSpPr/>
            <p:nvPr/>
          </p:nvSpPr>
          <p:spPr>
            <a:xfrm flipH="false" flipV="false" rot="0">
              <a:off x="0" y="0"/>
              <a:ext cx="444946" cy="238170"/>
            </a:xfrm>
            <a:custGeom>
              <a:avLst/>
              <a:gdLst/>
              <a:ahLst/>
              <a:cxnLst/>
              <a:rect r="r" b="b" t="t" l="l"/>
              <a:pathLst>
                <a:path h="238170" w="444946">
                  <a:moveTo>
                    <a:pt x="0" y="0"/>
                  </a:moveTo>
                  <a:lnTo>
                    <a:pt x="444946" y="0"/>
                  </a:lnTo>
                  <a:lnTo>
                    <a:pt x="444946" y="238170"/>
                  </a:lnTo>
                  <a:lnTo>
                    <a:pt x="0" y="238170"/>
                  </a:lnTo>
                  <a:close/>
                </a:path>
              </a:pathLst>
            </a:custGeom>
            <a:solidFill>
              <a:srgbClr val="FFFFFF"/>
            </a:solidFill>
            <a:ln w="38100" cap="sq">
              <a:solidFill>
                <a:srgbClr val="000000"/>
              </a:solidFill>
              <a:prstDash val="solid"/>
              <a:miter/>
            </a:ln>
          </p:spPr>
        </p:sp>
        <p:sp>
          <p:nvSpPr>
            <p:cNvPr name="TextBox 9" id="9"/>
            <p:cNvSpPr txBox="true"/>
            <p:nvPr/>
          </p:nvSpPr>
          <p:spPr>
            <a:xfrm>
              <a:off x="0" y="-38100"/>
              <a:ext cx="444946" cy="27627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914400"/>
            <a:ext cx="2921794" cy="1019389"/>
          </a:xfrm>
          <a:prstGeom prst="rect">
            <a:avLst/>
          </a:prstGeom>
        </p:spPr>
        <p:txBody>
          <a:bodyPr anchor="t" rtlCol="false" tIns="0" lIns="0" bIns="0" rIns="0">
            <a:spAutoFit/>
          </a:bodyPr>
          <a:lstStyle/>
          <a:p>
            <a:pPr algn="ctr">
              <a:lnSpc>
                <a:spcPts val="8388"/>
              </a:lnSpc>
              <a:spcBef>
                <a:spcPct val="0"/>
              </a:spcBef>
            </a:pPr>
            <a:r>
              <a:rPr lang="en-US" b="true" sz="5991">
                <a:solidFill>
                  <a:srgbClr val="000000"/>
                </a:solidFill>
                <a:latin typeface="Open Sauce Bold"/>
                <a:ea typeface="Open Sauce Bold"/>
                <a:cs typeface="Open Sauce Bold"/>
                <a:sym typeface="Open Sauce Bold"/>
              </a:rPr>
              <a:t>STEP 1 :</a:t>
            </a:r>
          </a:p>
        </p:txBody>
      </p:sp>
      <p:sp>
        <p:nvSpPr>
          <p:cNvPr name="TextBox 11" id="11"/>
          <p:cNvSpPr txBox="true"/>
          <p:nvPr/>
        </p:nvSpPr>
        <p:spPr>
          <a:xfrm rot="0">
            <a:off x="1422201" y="2663412"/>
            <a:ext cx="9087445" cy="870799"/>
          </a:xfrm>
          <a:prstGeom prst="rect">
            <a:avLst/>
          </a:prstGeom>
        </p:spPr>
        <p:txBody>
          <a:bodyPr anchor="t" rtlCol="false" tIns="0" lIns="0" bIns="0" rIns="0">
            <a:spAutoFit/>
          </a:bodyPr>
          <a:lstStyle/>
          <a:p>
            <a:pPr algn="ctr">
              <a:lnSpc>
                <a:spcPts val="7128"/>
              </a:lnSpc>
              <a:spcBef>
                <a:spcPct val="0"/>
              </a:spcBef>
            </a:pPr>
            <a:r>
              <a:rPr lang="en-US" sz="5091">
                <a:solidFill>
                  <a:srgbClr val="000000"/>
                </a:solidFill>
                <a:latin typeface="Open Sauce"/>
                <a:ea typeface="Open Sauce"/>
                <a:cs typeface="Open Sauce"/>
                <a:sym typeface="Open Sauce"/>
              </a:rPr>
              <a:t>Initialize Empty Schedule List</a:t>
            </a:r>
          </a:p>
        </p:txBody>
      </p:sp>
      <p:sp>
        <p:nvSpPr>
          <p:cNvPr name="TextBox 12" id="12"/>
          <p:cNvSpPr txBox="true"/>
          <p:nvPr/>
        </p:nvSpPr>
        <p:spPr>
          <a:xfrm rot="0">
            <a:off x="1422201" y="4032839"/>
            <a:ext cx="4648319" cy="870799"/>
          </a:xfrm>
          <a:prstGeom prst="rect">
            <a:avLst/>
          </a:prstGeom>
        </p:spPr>
        <p:txBody>
          <a:bodyPr anchor="t" rtlCol="false" tIns="0" lIns="0" bIns="0" rIns="0">
            <a:spAutoFit/>
          </a:bodyPr>
          <a:lstStyle/>
          <a:p>
            <a:pPr algn="ctr">
              <a:lnSpc>
                <a:spcPts val="7128"/>
              </a:lnSpc>
              <a:spcBef>
                <a:spcPct val="0"/>
              </a:spcBef>
            </a:pPr>
            <a:r>
              <a:rPr lang="en-US" sz="5091">
                <a:solidFill>
                  <a:srgbClr val="000000"/>
                </a:solidFill>
                <a:latin typeface="Open Sauce"/>
                <a:ea typeface="Open Sauce"/>
                <a:cs typeface="Open Sauce"/>
                <a:sym typeface="Open Sauce"/>
              </a:rPr>
              <a:t>Schedule = [   ]</a:t>
            </a:r>
          </a:p>
        </p:txBody>
      </p:sp>
      <p:sp>
        <p:nvSpPr>
          <p:cNvPr name="TextBox 13" id="13"/>
          <p:cNvSpPr txBox="true"/>
          <p:nvPr/>
        </p:nvSpPr>
        <p:spPr>
          <a:xfrm rot="0">
            <a:off x="12656818" y="6377635"/>
            <a:ext cx="4368082" cy="550991"/>
          </a:xfrm>
          <a:prstGeom prst="rect">
            <a:avLst/>
          </a:prstGeom>
        </p:spPr>
        <p:txBody>
          <a:bodyPr anchor="t" rtlCol="false" tIns="0" lIns="0" bIns="0" rIns="0">
            <a:spAutoFit/>
          </a:bodyPr>
          <a:lstStyle/>
          <a:p>
            <a:pPr algn="ctr">
              <a:lnSpc>
                <a:spcPts val="4524"/>
              </a:lnSpc>
              <a:spcBef>
                <a:spcPct val="0"/>
              </a:spcBef>
            </a:pPr>
            <a:r>
              <a:rPr lang="en-US" sz="3231">
                <a:solidFill>
                  <a:srgbClr val="000000"/>
                </a:solidFill>
                <a:latin typeface="Open Sauce"/>
                <a:ea typeface="Open Sauce"/>
                <a:cs typeface="Open Sauce"/>
                <a:sym typeface="Open Sauce"/>
              </a:rPr>
              <a:t>list = [ 1 , ‘abc’ , 7.29 ] </a:t>
            </a:r>
          </a:p>
        </p:txBody>
      </p:sp>
      <p:sp>
        <p:nvSpPr>
          <p:cNvPr name="TextBox 14" id="14"/>
          <p:cNvSpPr txBox="true"/>
          <p:nvPr/>
        </p:nvSpPr>
        <p:spPr>
          <a:xfrm rot="0">
            <a:off x="12321447" y="7022914"/>
            <a:ext cx="4301283" cy="1683799"/>
          </a:xfrm>
          <a:prstGeom prst="rect">
            <a:avLst/>
          </a:prstGeom>
        </p:spPr>
        <p:txBody>
          <a:bodyPr anchor="t" rtlCol="false" tIns="0" lIns="0" bIns="0" rIns="0">
            <a:spAutoFit/>
          </a:bodyPr>
          <a:lstStyle/>
          <a:p>
            <a:pPr algn="ctr" marL="697743" indent="-348872" lvl="1">
              <a:lnSpc>
                <a:spcPts val="4524"/>
              </a:lnSpc>
              <a:buFont typeface="Arial"/>
              <a:buChar char="•"/>
            </a:pPr>
            <a:r>
              <a:rPr lang="en-US" sz="3231">
                <a:solidFill>
                  <a:srgbClr val="000000"/>
                </a:solidFill>
                <a:latin typeface="Open Sauce"/>
                <a:ea typeface="Open Sauce"/>
                <a:cs typeface="Open Sauce"/>
                <a:sym typeface="Open Sauce"/>
              </a:rPr>
              <a:t>mutable </a:t>
            </a:r>
          </a:p>
          <a:p>
            <a:pPr algn="ctr" marL="697743" indent="-348872" lvl="1">
              <a:lnSpc>
                <a:spcPts val="4524"/>
              </a:lnSpc>
              <a:buFont typeface="Arial"/>
              <a:buChar char="•"/>
            </a:pPr>
            <a:r>
              <a:rPr lang="en-US" sz="3231">
                <a:solidFill>
                  <a:srgbClr val="000000"/>
                </a:solidFill>
                <a:latin typeface="Open Sauce"/>
                <a:ea typeface="Open Sauce"/>
                <a:cs typeface="Open Sauce"/>
                <a:sym typeface="Open Sauce"/>
              </a:rPr>
              <a:t>allows duplicates </a:t>
            </a:r>
          </a:p>
          <a:p>
            <a:pPr algn="ctr" marL="697743" indent="-348872" lvl="1">
              <a:lnSpc>
                <a:spcPts val="4524"/>
              </a:lnSpc>
              <a:buFont typeface="Arial"/>
              <a:buChar char="•"/>
            </a:pPr>
            <a:r>
              <a:rPr lang="en-US" sz="3231">
                <a:solidFill>
                  <a:srgbClr val="000000"/>
                </a:solidFill>
                <a:latin typeface="Open Sauce"/>
                <a:ea typeface="Open Sauce"/>
                <a:cs typeface="Open Sauce"/>
                <a:sym typeface="Open Sauce"/>
              </a:rPr>
              <a:t>indexing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28095" y="342980"/>
            <a:ext cx="5626300" cy="8470971"/>
            <a:chOff x="0" y="0"/>
            <a:chExt cx="1481824" cy="2231038"/>
          </a:xfrm>
        </p:grpSpPr>
        <p:sp>
          <p:nvSpPr>
            <p:cNvPr name="Freeform 3" id="3"/>
            <p:cNvSpPr/>
            <p:nvPr/>
          </p:nvSpPr>
          <p:spPr>
            <a:xfrm flipH="false" flipV="false" rot="0">
              <a:off x="0" y="0"/>
              <a:ext cx="1481824" cy="2231037"/>
            </a:xfrm>
            <a:custGeom>
              <a:avLst/>
              <a:gdLst/>
              <a:ahLst/>
              <a:cxnLst/>
              <a:rect r="r" b="b" t="t" l="l"/>
              <a:pathLst>
                <a:path h="2231037" w="1481824">
                  <a:moveTo>
                    <a:pt x="0" y="0"/>
                  </a:moveTo>
                  <a:lnTo>
                    <a:pt x="1481824" y="0"/>
                  </a:lnTo>
                  <a:lnTo>
                    <a:pt x="1481824" y="2231037"/>
                  </a:lnTo>
                  <a:lnTo>
                    <a:pt x="0" y="2231037"/>
                  </a:lnTo>
                  <a:close/>
                </a:path>
              </a:pathLst>
            </a:custGeom>
            <a:solidFill>
              <a:srgbClr val="FFFFFF"/>
            </a:solidFill>
            <a:ln w="38100" cap="sq">
              <a:solidFill>
                <a:srgbClr val="F70000"/>
              </a:solidFill>
              <a:prstDash val="solid"/>
              <a:miter/>
            </a:ln>
          </p:spPr>
        </p:sp>
        <p:sp>
          <p:nvSpPr>
            <p:cNvPr name="TextBox 4" id="4"/>
            <p:cNvSpPr txBox="true"/>
            <p:nvPr/>
          </p:nvSpPr>
          <p:spPr>
            <a:xfrm>
              <a:off x="0" y="-38100"/>
              <a:ext cx="1481824" cy="226913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22057" y="914400"/>
            <a:ext cx="3071694" cy="1019389"/>
          </a:xfrm>
          <a:prstGeom prst="rect">
            <a:avLst/>
          </a:prstGeom>
        </p:spPr>
        <p:txBody>
          <a:bodyPr anchor="t" rtlCol="false" tIns="0" lIns="0" bIns="0" rIns="0">
            <a:spAutoFit/>
          </a:bodyPr>
          <a:lstStyle/>
          <a:p>
            <a:pPr algn="ctr">
              <a:lnSpc>
                <a:spcPts val="8388"/>
              </a:lnSpc>
              <a:spcBef>
                <a:spcPct val="0"/>
              </a:spcBef>
            </a:pPr>
            <a:r>
              <a:rPr lang="en-US" b="true" sz="5991">
                <a:solidFill>
                  <a:srgbClr val="000000"/>
                </a:solidFill>
                <a:latin typeface="Open Sauce Bold"/>
                <a:ea typeface="Open Sauce Bold"/>
                <a:cs typeface="Open Sauce Bold"/>
                <a:sym typeface="Open Sauce Bold"/>
              </a:rPr>
              <a:t>STEP 2 :</a:t>
            </a:r>
          </a:p>
        </p:txBody>
      </p:sp>
      <p:sp>
        <p:nvSpPr>
          <p:cNvPr name="TextBox 6" id="6"/>
          <p:cNvSpPr txBox="true"/>
          <p:nvPr/>
        </p:nvSpPr>
        <p:spPr>
          <a:xfrm rot="0">
            <a:off x="1222057" y="2705636"/>
            <a:ext cx="7394797" cy="1872829"/>
          </a:xfrm>
          <a:prstGeom prst="rect">
            <a:avLst/>
          </a:prstGeom>
        </p:spPr>
        <p:txBody>
          <a:bodyPr anchor="t" rtlCol="false" tIns="0" lIns="0" bIns="0" rIns="0">
            <a:spAutoFit/>
          </a:bodyPr>
          <a:lstStyle/>
          <a:p>
            <a:pPr algn="l">
              <a:lnSpc>
                <a:spcPts val="7548"/>
              </a:lnSpc>
              <a:spcBef>
                <a:spcPct val="0"/>
              </a:spcBef>
            </a:pPr>
            <a:r>
              <a:rPr lang="en-US" sz="5391">
                <a:solidFill>
                  <a:srgbClr val="000000"/>
                </a:solidFill>
                <a:latin typeface="Open Sauce"/>
                <a:ea typeface="Open Sauce"/>
                <a:cs typeface="Open Sauce"/>
                <a:sym typeface="Open Sauce"/>
              </a:rPr>
              <a:t>Ensure Atomic Transaction</a:t>
            </a:r>
          </a:p>
        </p:txBody>
      </p:sp>
      <p:sp>
        <p:nvSpPr>
          <p:cNvPr name="Freeform 7" id="7"/>
          <p:cNvSpPr/>
          <p:nvPr/>
        </p:nvSpPr>
        <p:spPr>
          <a:xfrm flipH="false" flipV="false" rot="0">
            <a:off x="11602287" y="433096"/>
            <a:ext cx="5277918" cy="8139484"/>
          </a:xfrm>
          <a:custGeom>
            <a:avLst/>
            <a:gdLst/>
            <a:ahLst/>
            <a:cxnLst/>
            <a:rect r="r" b="b" t="t" l="l"/>
            <a:pathLst>
              <a:path h="8139484" w="5277918">
                <a:moveTo>
                  <a:pt x="0" y="0"/>
                </a:moveTo>
                <a:lnTo>
                  <a:pt x="5277917" y="0"/>
                </a:lnTo>
                <a:lnTo>
                  <a:pt x="5277917" y="8139484"/>
                </a:lnTo>
                <a:lnTo>
                  <a:pt x="0" y="8139484"/>
                </a:lnTo>
                <a:lnTo>
                  <a:pt x="0" y="0"/>
                </a:lnTo>
                <a:close/>
              </a:path>
            </a:pathLst>
          </a:custGeom>
          <a:blipFill>
            <a:blip r:embed="rId2"/>
            <a:stretch>
              <a:fillRect l="-1982" t="-1107" r="-1982" b="-530"/>
            </a:stretch>
          </a:blipFill>
        </p:spPr>
      </p:sp>
      <p:sp>
        <p:nvSpPr>
          <p:cNvPr name="AutoShape 8" id="8"/>
          <p:cNvSpPr/>
          <p:nvPr/>
        </p:nvSpPr>
        <p:spPr>
          <a:xfrm flipV="true">
            <a:off x="6219109" y="3694438"/>
            <a:ext cx="5208986" cy="0"/>
          </a:xfrm>
          <a:prstGeom prst="line">
            <a:avLst/>
          </a:prstGeom>
          <a:ln cap="flat" w="114300">
            <a:solidFill>
              <a:srgbClr val="F70000"/>
            </a:solidFill>
            <a:prstDash val="solid"/>
            <a:headEnd type="none" len="sm" w="sm"/>
            <a:tailEnd type="arrow" len="sm" w="med"/>
          </a:ln>
        </p:spPr>
      </p:sp>
      <p:sp>
        <p:nvSpPr>
          <p:cNvPr name="TextBox 9" id="9"/>
          <p:cNvSpPr txBox="true"/>
          <p:nvPr/>
        </p:nvSpPr>
        <p:spPr>
          <a:xfrm rot="0">
            <a:off x="8752694" y="9210675"/>
            <a:ext cx="10430058" cy="8961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Figure</a:t>
            </a:r>
            <a:r>
              <a:rPr lang="en-US" sz="2592" strike="noStrike" u="none">
                <a:solidFill>
                  <a:srgbClr val="000000"/>
                </a:solidFill>
                <a:latin typeface="Open Sauce"/>
                <a:ea typeface="Open Sauce"/>
                <a:cs typeface="Open Sauce"/>
                <a:sym typeface="Open Sauce"/>
              </a:rPr>
              <a:t>:  Visual Representation of Atomic Transaction</a:t>
            </a:r>
          </a:p>
          <a:p>
            <a:pPr algn="ctr" marL="0" indent="0" lvl="0">
              <a:lnSpc>
                <a:spcPts val="3629"/>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42238" y="4195905"/>
            <a:ext cx="6291315" cy="1193202"/>
            <a:chOff x="0" y="0"/>
            <a:chExt cx="1656972" cy="314259"/>
          </a:xfrm>
        </p:grpSpPr>
        <p:sp>
          <p:nvSpPr>
            <p:cNvPr name="Freeform 3" id="3"/>
            <p:cNvSpPr/>
            <p:nvPr/>
          </p:nvSpPr>
          <p:spPr>
            <a:xfrm flipH="false" flipV="false" rot="0">
              <a:off x="0" y="0"/>
              <a:ext cx="1656972" cy="314259"/>
            </a:xfrm>
            <a:custGeom>
              <a:avLst/>
              <a:gdLst/>
              <a:ahLst/>
              <a:cxnLst/>
              <a:rect r="r" b="b" t="t" l="l"/>
              <a:pathLst>
                <a:path h="314259" w="1656972">
                  <a:moveTo>
                    <a:pt x="0" y="0"/>
                  </a:moveTo>
                  <a:lnTo>
                    <a:pt x="1656972" y="0"/>
                  </a:lnTo>
                  <a:lnTo>
                    <a:pt x="1656972" y="314259"/>
                  </a:lnTo>
                  <a:lnTo>
                    <a:pt x="0" y="314259"/>
                  </a:lnTo>
                  <a:close/>
                </a:path>
              </a:pathLst>
            </a:custGeom>
            <a:solidFill>
              <a:srgbClr val="FFFFFF"/>
            </a:solidFill>
            <a:ln w="38100" cap="sq">
              <a:solidFill>
                <a:srgbClr val="000000"/>
              </a:solidFill>
              <a:prstDash val="solid"/>
              <a:miter/>
            </a:ln>
          </p:spPr>
        </p:sp>
        <p:sp>
          <p:nvSpPr>
            <p:cNvPr name="TextBox 4" id="4"/>
            <p:cNvSpPr txBox="true"/>
            <p:nvPr/>
          </p:nvSpPr>
          <p:spPr>
            <a:xfrm>
              <a:off x="0" y="-28575"/>
              <a:ext cx="1656972" cy="34283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0">
            <a:off x="13232240" y="4195905"/>
            <a:ext cx="4513430" cy="5389159"/>
            <a:chOff x="0" y="0"/>
            <a:chExt cx="1188722" cy="1419367"/>
          </a:xfrm>
        </p:grpSpPr>
        <p:sp>
          <p:nvSpPr>
            <p:cNvPr name="Freeform 6" id="6"/>
            <p:cNvSpPr/>
            <p:nvPr/>
          </p:nvSpPr>
          <p:spPr>
            <a:xfrm flipH="false" flipV="false" rot="0">
              <a:off x="0" y="0"/>
              <a:ext cx="1188722" cy="1419367"/>
            </a:xfrm>
            <a:custGeom>
              <a:avLst/>
              <a:gdLst/>
              <a:ahLst/>
              <a:cxnLst/>
              <a:rect r="r" b="b" t="t" l="l"/>
              <a:pathLst>
                <a:path h="1419367" w="1188722">
                  <a:moveTo>
                    <a:pt x="0" y="0"/>
                  </a:moveTo>
                  <a:lnTo>
                    <a:pt x="1188722" y="0"/>
                  </a:lnTo>
                  <a:lnTo>
                    <a:pt x="1188722" y="1419367"/>
                  </a:lnTo>
                  <a:lnTo>
                    <a:pt x="0" y="1419367"/>
                  </a:lnTo>
                  <a:close/>
                </a:path>
              </a:pathLst>
            </a:custGeom>
            <a:solidFill>
              <a:srgbClr val="FFFFFF"/>
            </a:solidFill>
            <a:ln w="38100" cap="sq">
              <a:solidFill>
                <a:srgbClr val="F70000"/>
              </a:solidFill>
              <a:prstDash val="solid"/>
              <a:miter/>
            </a:ln>
          </p:spPr>
        </p:sp>
        <p:sp>
          <p:nvSpPr>
            <p:cNvPr name="TextBox 7" id="7"/>
            <p:cNvSpPr txBox="true"/>
            <p:nvPr/>
          </p:nvSpPr>
          <p:spPr>
            <a:xfrm>
              <a:off x="0" y="-38100"/>
              <a:ext cx="1188722" cy="145746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311771" y="914400"/>
            <a:ext cx="3082290" cy="1019389"/>
          </a:xfrm>
          <a:prstGeom prst="rect">
            <a:avLst/>
          </a:prstGeom>
        </p:spPr>
        <p:txBody>
          <a:bodyPr anchor="t" rtlCol="false" tIns="0" lIns="0" bIns="0" rIns="0">
            <a:spAutoFit/>
          </a:bodyPr>
          <a:lstStyle/>
          <a:p>
            <a:pPr algn="ctr">
              <a:lnSpc>
                <a:spcPts val="8388"/>
              </a:lnSpc>
              <a:spcBef>
                <a:spcPct val="0"/>
              </a:spcBef>
            </a:pPr>
            <a:r>
              <a:rPr lang="en-US" b="true" sz="5991">
                <a:solidFill>
                  <a:srgbClr val="000000"/>
                </a:solidFill>
                <a:latin typeface="Open Sauce Bold"/>
                <a:ea typeface="Open Sauce Bold"/>
                <a:cs typeface="Open Sauce Bold"/>
                <a:sym typeface="Open Sauce Bold"/>
              </a:rPr>
              <a:t>STEP 3 :</a:t>
            </a:r>
          </a:p>
        </p:txBody>
      </p:sp>
      <p:sp>
        <p:nvSpPr>
          <p:cNvPr name="TextBox 9" id="9"/>
          <p:cNvSpPr txBox="true"/>
          <p:nvPr/>
        </p:nvSpPr>
        <p:spPr>
          <a:xfrm rot="0">
            <a:off x="1446847" y="2756146"/>
            <a:ext cx="10652760" cy="877784"/>
          </a:xfrm>
          <a:prstGeom prst="rect">
            <a:avLst/>
          </a:prstGeom>
        </p:spPr>
        <p:txBody>
          <a:bodyPr anchor="t" rtlCol="false" tIns="0" lIns="0" bIns="0" rIns="0">
            <a:spAutoFit/>
          </a:bodyPr>
          <a:lstStyle/>
          <a:p>
            <a:pPr algn="ctr">
              <a:lnSpc>
                <a:spcPts val="7268"/>
              </a:lnSpc>
              <a:spcBef>
                <a:spcPct val="0"/>
              </a:spcBef>
            </a:pPr>
            <a:r>
              <a:rPr lang="en-US" sz="5191">
                <a:solidFill>
                  <a:srgbClr val="000000"/>
                </a:solidFill>
                <a:latin typeface="Open Sauce"/>
                <a:ea typeface="Open Sauce"/>
                <a:cs typeface="Open Sauce"/>
                <a:sym typeface="Open Sauce"/>
              </a:rPr>
              <a:t>Iterate through each day in shifts </a:t>
            </a:r>
          </a:p>
        </p:txBody>
      </p:sp>
      <p:sp>
        <p:nvSpPr>
          <p:cNvPr name="TextBox 10" id="10"/>
          <p:cNvSpPr txBox="true"/>
          <p:nvPr/>
        </p:nvSpPr>
        <p:spPr>
          <a:xfrm rot="0">
            <a:off x="1446847" y="4262239"/>
            <a:ext cx="8886706" cy="877784"/>
          </a:xfrm>
          <a:prstGeom prst="rect">
            <a:avLst/>
          </a:prstGeom>
        </p:spPr>
        <p:txBody>
          <a:bodyPr anchor="t" rtlCol="false" tIns="0" lIns="0" bIns="0" rIns="0">
            <a:spAutoFit/>
          </a:bodyPr>
          <a:lstStyle/>
          <a:p>
            <a:pPr algn="ctr">
              <a:lnSpc>
                <a:spcPts val="7268"/>
              </a:lnSpc>
              <a:spcBef>
                <a:spcPct val="0"/>
              </a:spcBef>
            </a:pPr>
            <a:r>
              <a:rPr lang="en-US" sz="5191">
                <a:solidFill>
                  <a:srgbClr val="000000"/>
                </a:solidFill>
                <a:latin typeface="Open Sauce"/>
                <a:ea typeface="Open Sauce"/>
                <a:cs typeface="Open Sauce"/>
                <a:sym typeface="Open Sauce"/>
              </a:rPr>
              <a:t>Initialize assigned_today {  } </a:t>
            </a:r>
          </a:p>
        </p:txBody>
      </p:sp>
      <p:sp>
        <p:nvSpPr>
          <p:cNvPr name="TextBox 11" id="11"/>
          <p:cNvSpPr txBox="true"/>
          <p:nvPr/>
        </p:nvSpPr>
        <p:spPr>
          <a:xfrm rot="0">
            <a:off x="13235578" y="4281289"/>
            <a:ext cx="4263866" cy="6976324"/>
          </a:xfrm>
          <a:prstGeom prst="rect">
            <a:avLst/>
          </a:prstGeom>
        </p:spPr>
        <p:txBody>
          <a:bodyPr anchor="t" rtlCol="false" tIns="0" lIns="0" bIns="0" rIns="0">
            <a:spAutoFit/>
          </a:bodyPr>
          <a:lstStyle/>
          <a:p>
            <a:pPr algn="ctr" marL="840200" indent="-420100" lvl="1">
              <a:lnSpc>
                <a:spcPts val="5448"/>
              </a:lnSpc>
              <a:buFont typeface="Arial"/>
              <a:buChar char="•"/>
            </a:pPr>
            <a:r>
              <a:rPr lang="en-US" sz="3891">
                <a:solidFill>
                  <a:srgbClr val="000000"/>
                </a:solidFill>
                <a:latin typeface="Open Sauce"/>
                <a:ea typeface="Open Sauce"/>
                <a:cs typeface="Open Sauce"/>
                <a:sym typeface="Open Sauce"/>
              </a:rPr>
              <a:t>dictionary </a:t>
            </a:r>
          </a:p>
          <a:p>
            <a:pPr algn="ctr">
              <a:lnSpc>
                <a:spcPts val="5448"/>
              </a:lnSpc>
            </a:pPr>
            <a:r>
              <a:rPr lang="en-US" sz="3891">
                <a:solidFill>
                  <a:srgbClr val="000000"/>
                </a:solidFill>
                <a:latin typeface="Open Sauce"/>
                <a:ea typeface="Open Sauce"/>
                <a:cs typeface="Open Sauce"/>
                <a:sym typeface="Open Sauce"/>
              </a:rPr>
              <a:t> assigned_today =</a:t>
            </a:r>
          </a:p>
          <a:p>
            <a:pPr algn="ctr">
              <a:lnSpc>
                <a:spcPts val="5448"/>
              </a:lnSpc>
            </a:pPr>
            <a:r>
              <a:rPr lang="en-US" sz="3891">
                <a:solidFill>
                  <a:srgbClr val="000000"/>
                </a:solidFill>
                <a:latin typeface="Open Sauce"/>
                <a:ea typeface="Open Sauce"/>
                <a:cs typeface="Open Sauce"/>
                <a:sym typeface="Open Sauce"/>
              </a:rPr>
              <a:t> {</a:t>
            </a:r>
          </a:p>
          <a:p>
            <a:pPr algn="ctr">
              <a:lnSpc>
                <a:spcPts val="5448"/>
              </a:lnSpc>
            </a:pPr>
            <a:r>
              <a:rPr lang="en-US" sz="3891">
                <a:solidFill>
                  <a:srgbClr val="000000"/>
                </a:solidFill>
                <a:latin typeface="Open Sauce"/>
                <a:ea typeface="Open Sauce"/>
                <a:cs typeface="Open Sauce"/>
                <a:sym typeface="Open Sauce"/>
              </a:rPr>
              <a:t>    1 : 1,  </a:t>
            </a:r>
          </a:p>
          <a:p>
            <a:pPr algn="ctr">
              <a:lnSpc>
                <a:spcPts val="5448"/>
              </a:lnSpc>
            </a:pPr>
            <a:r>
              <a:rPr lang="en-US" sz="3891">
                <a:solidFill>
                  <a:srgbClr val="000000"/>
                </a:solidFill>
                <a:latin typeface="Open Sauce"/>
                <a:ea typeface="Open Sauce"/>
                <a:cs typeface="Open Sauce"/>
                <a:sym typeface="Open Sauce"/>
              </a:rPr>
              <a:t>    2 : 1,  </a:t>
            </a:r>
          </a:p>
          <a:p>
            <a:pPr algn="ctr">
              <a:lnSpc>
                <a:spcPts val="5448"/>
              </a:lnSpc>
            </a:pPr>
            <a:r>
              <a:rPr lang="en-US" sz="3891">
                <a:solidFill>
                  <a:srgbClr val="000000"/>
                </a:solidFill>
                <a:latin typeface="Open Sauce"/>
                <a:ea typeface="Open Sauce"/>
                <a:cs typeface="Open Sauce"/>
                <a:sym typeface="Open Sauce"/>
              </a:rPr>
              <a:t>    3 : 2,  </a:t>
            </a:r>
          </a:p>
          <a:p>
            <a:pPr algn="ctr">
              <a:lnSpc>
                <a:spcPts val="5448"/>
              </a:lnSpc>
            </a:pPr>
            <a:r>
              <a:rPr lang="en-US" sz="3891">
                <a:solidFill>
                  <a:srgbClr val="000000"/>
                </a:solidFill>
                <a:latin typeface="Open Sauce"/>
                <a:ea typeface="Open Sauce"/>
                <a:cs typeface="Open Sauce"/>
                <a:sym typeface="Open Sauce"/>
              </a:rPr>
              <a:t>}</a:t>
            </a:r>
          </a:p>
          <a:p>
            <a:pPr algn="ctr">
              <a:lnSpc>
                <a:spcPts val="8808"/>
              </a:lnSpc>
            </a:pPr>
          </a:p>
          <a:p>
            <a:pPr algn="ctr">
              <a:lnSpc>
                <a:spcPts val="8808"/>
              </a:lnSpc>
            </a:pPr>
          </a:p>
        </p:txBody>
      </p:sp>
      <p:sp>
        <p:nvSpPr>
          <p:cNvPr name="AutoShape 12" id="12"/>
          <p:cNvSpPr/>
          <p:nvPr/>
        </p:nvSpPr>
        <p:spPr>
          <a:xfrm>
            <a:off x="10333553" y="4792506"/>
            <a:ext cx="2898687" cy="0"/>
          </a:xfrm>
          <a:prstGeom prst="line">
            <a:avLst/>
          </a:prstGeom>
          <a:ln cap="flat" w="38100">
            <a:solidFill>
              <a:srgbClr val="F70000"/>
            </a:solidFill>
            <a:prstDash val="solid"/>
            <a:headEnd type="none" len="sm" w="sm"/>
            <a:tailEnd type="arrow" len="sm" w="med"/>
          </a:ln>
        </p:spPr>
      </p:sp>
      <p:sp>
        <p:nvSpPr>
          <p:cNvPr name="TextBox 13" id="13"/>
          <p:cNvSpPr txBox="true"/>
          <p:nvPr/>
        </p:nvSpPr>
        <p:spPr>
          <a:xfrm rot="0">
            <a:off x="893181" y="6400566"/>
            <a:ext cx="11445999" cy="580603"/>
          </a:xfrm>
          <a:prstGeom prst="rect">
            <a:avLst/>
          </a:prstGeom>
        </p:spPr>
        <p:txBody>
          <a:bodyPr anchor="t" rtlCol="false" tIns="0" lIns="0" bIns="0" rIns="0">
            <a:spAutoFit/>
          </a:bodyPr>
          <a:lstStyle/>
          <a:p>
            <a:pPr algn="ctr">
              <a:lnSpc>
                <a:spcPts val="4748"/>
              </a:lnSpc>
              <a:spcBef>
                <a:spcPct val="0"/>
              </a:spcBef>
            </a:pPr>
            <a:r>
              <a:rPr lang="en-US" sz="3391">
                <a:solidFill>
                  <a:srgbClr val="000000"/>
                </a:solidFill>
                <a:latin typeface="Open Sauce"/>
                <a:ea typeface="Open Sauce"/>
                <a:cs typeface="Open Sauce"/>
                <a:sym typeface="Open Sauce"/>
              </a:rPr>
              <a:t>Employee with e_id = 1 is assigned 1 shift today</a:t>
            </a:r>
          </a:p>
        </p:txBody>
      </p:sp>
      <p:sp>
        <p:nvSpPr>
          <p:cNvPr name="TextBox 14" id="14"/>
          <p:cNvSpPr txBox="true"/>
          <p:nvPr/>
        </p:nvSpPr>
        <p:spPr>
          <a:xfrm rot="0">
            <a:off x="893181" y="7070721"/>
            <a:ext cx="11445999" cy="580603"/>
          </a:xfrm>
          <a:prstGeom prst="rect">
            <a:avLst/>
          </a:prstGeom>
        </p:spPr>
        <p:txBody>
          <a:bodyPr anchor="t" rtlCol="false" tIns="0" lIns="0" bIns="0" rIns="0">
            <a:spAutoFit/>
          </a:bodyPr>
          <a:lstStyle/>
          <a:p>
            <a:pPr algn="ctr">
              <a:lnSpc>
                <a:spcPts val="4748"/>
              </a:lnSpc>
              <a:spcBef>
                <a:spcPct val="0"/>
              </a:spcBef>
            </a:pPr>
            <a:r>
              <a:rPr lang="en-US" sz="3391">
                <a:solidFill>
                  <a:srgbClr val="000000"/>
                </a:solidFill>
                <a:latin typeface="Open Sauce"/>
                <a:ea typeface="Open Sauce"/>
                <a:cs typeface="Open Sauce"/>
                <a:sym typeface="Open Sauce"/>
              </a:rPr>
              <a:t>Employee with e_id = 2 is assigned 1 shift today</a:t>
            </a:r>
          </a:p>
        </p:txBody>
      </p:sp>
      <p:sp>
        <p:nvSpPr>
          <p:cNvPr name="TextBox 15" id="15"/>
          <p:cNvSpPr txBox="true"/>
          <p:nvPr/>
        </p:nvSpPr>
        <p:spPr>
          <a:xfrm rot="0">
            <a:off x="893181" y="7740876"/>
            <a:ext cx="11731958" cy="580603"/>
          </a:xfrm>
          <a:prstGeom prst="rect">
            <a:avLst/>
          </a:prstGeom>
        </p:spPr>
        <p:txBody>
          <a:bodyPr anchor="t" rtlCol="false" tIns="0" lIns="0" bIns="0" rIns="0">
            <a:spAutoFit/>
          </a:bodyPr>
          <a:lstStyle/>
          <a:p>
            <a:pPr algn="ctr">
              <a:lnSpc>
                <a:spcPts val="4748"/>
              </a:lnSpc>
              <a:spcBef>
                <a:spcPct val="0"/>
              </a:spcBef>
            </a:pPr>
            <a:r>
              <a:rPr lang="en-US" sz="3391">
                <a:solidFill>
                  <a:srgbClr val="000000"/>
                </a:solidFill>
                <a:latin typeface="Open Sauce"/>
                <a:ea typeface="Open Sauce"/>
                <a:cs typeface="Open Sauce"/>
                <a:sym typeface="Open Sauce"/>
              </a:rPr>
              <a:t>Employee with e_id = 3 is assigned 2 shifts today</a:t>
            </a:r>
          </a:p>
        </p:txBody>
      </p:sp>
      <p:sp>
        <p:nvSpPr>
          <p:cNvPr name="AutoShape 16" id="16"/>
          <p:cNvSpPr/>
          <p:nvPr/>
        </p:nvSpPr>
        <p:spPr>
          <a:xfrm>
            <a:off x="11639472" y="6724205"/>
            <a:ext cx="3225378" cy="36513"/>
          </a:xfrm>
          <a:prstGeom prst="line">
            <a:avLst/>
          </a:prstGeom>
          <a:ln cap="flat" w="38100">
            <a:solidFill>
              <a:srgbClr val="FF3131"/>
            </a:solidFill>
            <a:prstDash val="solid"/>
            <a:headEnd type="none" len="sm" w="sm"/>
            <a:tailEnd type="arrow" len="sm" w="med"/>
          </a:ln>
        </p:spPr>
      </p:sp>
      <p:sp>
        <p:nvSpPr>
          <p:cNvPr name="AutoShape 17" id="17"/>
          <p:cNvSpPr/>
          <p:nvPr/>
        </p:nvSpPr>
        <p:spPr>
          <a:xfrm>
            <a:off x="11639472" y="7394360"/>
            <a:ext cx="3226030" cy="55563"/>
          </a:xfrm>
          <a:prstGeom prst="line">
            <a:avLst/>
          </a:prstGeom>
          <a:ln cap="flat" w="38100">
            <a:solidFill>
              <a:srgbClr val="F70000"/>
            </a:solidFill>
            <a:prstDash val="solid"/>
            <a:headEnd type="none" len="sm" w="sm"/>
            <a:tailEnd type="arrow" len="sm" w="med"/>
          </a:ln>
        </p:spPr>
      </p:sp>
      <p:sp>
        <p:nvSpPr>
          <p:cNvPr name="AutoShape 18" id="18"/>
          <p:cNvSpPr/>
          <p:nvPr/>
        </p:nvSpPr>
        <p:spPr>
          <a:xfrm>
            <a:off x="12099607" y="8064515"/>
            <a:ext cx="2765895" cy="36513"/>
          </a:xfrm>
          <a:prstGeom prst="line">
            <a:avLst/>
          </a:prstGeom>
          <a:ln cap="flat" w="38100">
            <a:solidFill>
              <a:srgbClr val="F70000"/>
            </a:solidFill>
            <a:prstDash val="solid"/>
            <a:headEnd type="none" len="sm" w="sm"/>
            <a:tailEnd type="arrow" len="sm" w="med"/>
          </a:ln>
        </p:spPr>
      </p:sp>
      <p:sp>
        <p:nvSpPr>
          <p:cNvPr name="TextBox 19" id="19"/>
          <p:cNvSpPr txBox="true"/>
          <p:nvPr/>
        </p:nvSpPr>
        <p:spPr>
          <a:xfrm rot="0">
            <a:off x="1599485" y="8835829"/>
            <a:ext cx="8734068" cy="422275"/>
          </a:xfrm>
          <a:prstGeom prst="rect">
            <a:avLst/>
          </a:prstGeom>
        </p:spPr>
        <p:txBody>
          <a:bodyPr anchor="t" rtlCol="false" tIns="0" lIns="0" bIns="0" rIns="0">
            <a:spAutoFit/>
          </a:bodyPr>
          <a:lstStyle/>
          <a:p>
            <a:pPr algn="ctr">
              <a:lnSpc>
                <a:spcPts val="3499"/>
              </a:lnSpc>
              <a:spcBef>
                <a:spcPct val="0"/>
              </a:spcBef>
            </a:pPr>
            <a:r>
              <a:rPr lang="en-US" sz="2499">
                <a:solidFill>
                  <a:srgbClr val="F70000"/>
                </a:solidFill>
                <a:latin typeface="Open Sauce"/>
                <a:ea typeface="Open Sauce"/>
                <a:cs typeface="Open Sauce"/>
                <a:sym typeface="Open Sauce"/>
              </a:rPr>
              <a:t>assigned_today {  } is reset at the beginning of each day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396055" y="3773732"/>
            <a:ext cx="4341476" cy="5447254"/>
          </a:xfrm>
          <a:custGeom>
            <a:avLst/>
            <a:gdLst/>
            <a:ahLst/>
            <a:cxnLst/>
            <a:rect r="r" b="b" t="t" l="l"/>
            <a:pathLst>
              <a:path h="5447254" w="4341476">
                <a:moveTo>
                  <a:pt x="0" y="0"/>
                </a:moveTo>
                <a:lnTo>
                  <a:pt x="4341476" y="0"/>
                </a:lnTo>
                <a:lnTo>
                  <a:pt x="4341476" y="5447254"/>
                </a:lnTo>
                <a:lnTo>
                  <a:pt x="0" y="5447254"/>
                </a:lnTo>
                <a:lnTo>
                  <a:pt x="0" y="0"/>
                </a:lnTo>
                <a:close/>
              </a:path>
            </a:pathLst>
          </a:custGeom>
          <a:blipFill>
            <a:blip r:embed="rId2"/>
            <a:stretch>
              <a:fillRect l="-50625" t="0" r="0" b="0"/>
            </a:stretch>
          </a:blipFill>
        </p:spPr>
      </p:sp>
      <p:grpSp>
        <p:nvGrpSpPr>
          <p:cNvPr name="Group 3" id="3"/>
          <p:cNvGrpSpPr/>
          <p:nvPr/>
        </p:nvGrpSpPr>
        <p:grpSpPr>
          <a:xfrm rot="0">
            <a:off x="5550469" y="4375026"/>
            <a:ext cx="3086100" cy="2637614"/>
            <a:chOff x="0" y="0"/>
            <a:chExt cx="812800" cy="694680"/>
          </a:xfrm>
        </p:grpSpPr>
        <p:sp>
          <p:nvSpPr>
            <p:cNvPr name="Freeform 4" id="4"/>
            <p:cNvSpPr/>
            <p:nvPr/>
          </p:nvSpPr>
          <p:spPr>
            <a:xfrm flipH="false" flipV="false" rot="0">
              <a:off x="0" y="0"/>
              <a:ext cx="812800" cy="694680"/>
            </a:xfrm>
            <a:custGeom>
              <a:avLst/>
              <a:gdLst/>
              <a:ahLst/>
              <a:cxnLst/>
              <a:rect r="r" b="b" t="t" l="l"/>
              <a:pathLst>
                <a:path h="694680" w="812800">
                  <a:moveTo>
                    <a:pt x="0" y="0"/>
                  </a:moveTo>
                  <a:lnTo>
                    <a:pt x="812800" y="0"/>
                  </a:lnTo>
                  <a:lnTo>
                    <a:pt x="812800" y="694680"/>
                  </a:lnTo>
                  <a:lnTo>
                    <a:pt x="0" y="694680"/>
                  </a:lnTo>
                  <a:close/>
                </a:path>
              </a:pathLst>
            </a:custGeom>
            <a:solidFill>
              <a:srgbClr val="FFFFFF"/>
            </a:solidFill>
            <a:ln w="38100" cap="sq">
              <a:solidFill>
                <a:srgbClr val="F70000"/>
              </a:solidFill>
              <a:prstDash val="solid"/>
              <a:miter/>
            </a:ln>
          </p:spPr>
        </p:sp>
        <p:sp>
          <p:nvSpPr>
            <p:cNvPr name="TextBox 5" id="5"/>
            <p:cNvSpPr txBox="true"/>
            <p:nvPr/>
          </p:nvSpPr>
          <p:spPr>
            <a:xfrm>
              <a:off x="0" y="-38100"/>
              <a:ext cx="812800" cy="73278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26774" y="2648448"/>
            <a:ext cx="16230600" cy="1087970"/>
          </a:xfrm>
          <a:prstGeom prst="rect">
            <a:avLst/>
          </a:prstGeom>
        </p:spPr>
        <p:txBody>
          <a:bodyPr anchor="t" rtlCol="false" tIns="0" lIns="0" bIns="0" rIns="0">
            <a:spAutoFit/>
          </a:bodyPr>
          <a:lstStyle/>
          <a:p>
            <a:pPr algn="ctr">
              <a:lnSpc>
                <a:spcPts val="8808"/>
              </a:lnSpc>
              <a:spcBef>
                <a:spcPct val="0"/>
              </a:spcBef>
            </a:pPr>
            <a:r>
              <a:rPr lang="en-US" sz="6291">
                <a:solidFill>
                  <a:srgbClr val="000000"/>
                </a:solidFill>
                <a:latin typeface="Open Sauce"/>
                <a:ea typeface="Open Sauce"/>
                <a:cs typeface="Open Sauce"/>
                <a:sym typeface="Open Sauce"/>
              </a:rPr>
              <a:t>Extract Shift Details from database </a:t>
            </a:r>
          </a:p>
        </p:txBody>
      </p:sp>
      <p:sp>
        <p:nvSpPr>
          <p:cNvPr name="TextBox 7" id="7"/>
          <p:cNvSpPr txBox="true"/>
          <p:nvPr/>
        </p:nvSpPr>
        <p:spPr>
          <a:xfrm rot="0">
            <a:off x="1035487" y="885825"/>
            <a:ext cx="3634859"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STEP 4 :</a:t>
            </a:r>
          </a:p>
        </p:txBody>
      </p:sp>
      <p:sp>
        <p:nvSpPr>
          <p:cNvPr name="TextBox 8" id="8"/>
          <p:cNvSpPr txBox="true"/>
          <p:nvPr/>
        </p:nvSpPr>
        <p:spPr>
          <a:xfrm rot="0">
            <a:off x="5610239" y="4423249"/>
            <a:ext cx="2966561" cy="2795483"/>
          </a:xfrm>
          <a:prstGeom prst="rect">
            <a:avLst/>
          </a:prstGeom>
        </p:spPr>
        <p:txBody>
          <a:bodyPr anchor="t" rtlCol="false" tIns="0" lIns="0" bIns="0" rIns="0">
            <a:spAutoFit/>
          </a:bodyPr>
          <a:lstStyle/>
          <a:p>
            <a:pPr algn="ctr">
              <a:lnSpc>
                <a:spcPts val="4468"/>
              </a:lnSpc>
            </a:pPr>
            <a:r>
              <a:rPr lang="en-US" sz="3191">
                <a:solidFill>
                  <a:srgbClr val="000000"/>
                </a:solidFill>
                <a:latin typeface="Open Sauce"/>
                <a:ea typeface="Open Sauce"/>
                <a:cs typeface="Open Sauce"/>
                <a:sym typeface="Open Sauce"/>
              </a:rPr>
              <a:t>Shift_id :</a:t>
            </a:r>
          </a:p>
          <a:p>
            <a:pPr algn="ctr">
              <a:lnSpc>
                <a:spcPts val="4468"/>
              </a:lnSpc>
            </a:pPr>
            <a:r>
              <a:rPr lang="en-US" sz="3191">
                <a:solidFill>
                  <a:srgbClr val="000000"/>
                </a:solidFill>
                <a:latin typeface="Open Sauce"/>
                <a:ea typeface="Open Sauce"/>
                <a:cs typeface="Open Sauce"/>
                <a:sym typeface="Open Sauce"/>
              </a:rPr>
              <a:t>Shift_duration : </a:t>
            </a:r>
          </a:p>
          <a:p>
            <a:pPr algn="ctr">
              <a:lnSpc>
                <a:spcPts val="4468"/>
              </a:lnSpc>
            </a:pPr>
            <a:r>
              <a:rPr lang="en-US" sz="3191">
                <a:solidFill>
                  <a:srgbClr val="000000"/>
                </a:solidFill>
                <a:latin typeface="Open Sauce"/>
                <a:ea typeface="Open Sauce"/>
                <a:cs typeface="Open Sauce"/>
                <a:sym typeface="Open Sauce"/>
              </a:rPr>
              <a:t>Shift_timing :</a:t>
            </a:r>
          </a:p>
          <a:p>
            <a:pPr algn="ctr">
              <a:lnSpc>
                <a:spcPts val="4468"/>
              </a:lnSpc>
            </a:pPr>
            <a:r>
              <a:rPr lang="en-US" sz="3191">
                <a:solidFill>
                  <a:srgbClr val="000000"/>
                </a:solidFill>
                <a:latin typeface="Open Sauce"/>
                <a:ea typeface="Open Sauce"/>
                <a:cs typeface="Open Sauce"/>
                <a:sym typeface="Open Sauce"/>
              </a:rPr>
              <a:t>day :</a:t>
            </a:r>
          </a:p>
          <a:p>
            <a:pPr algn="ctr">
              <a:lnSpc>
                <a:spcPts val="4468"/>
              </a:lnSpc>
              <a:spcBef>
                <a:spcPct val="0"/>
              </a:spcBef>
            </a:pPr>
          </a:p>
        </p:txBody>
      </p:sp>
      <p:sp>
        <p:nvSpPr>
          <p:cNvPr name="TextBox 9" id="9"/>
          <p:cNvSpPr txBox="true"/>
          <p:nvPr/>
        </p:nvSpPr>
        <p:spPr>
          <a:xfrm rot="0">
            <a:off x="4131562" y="9413265"/>
            <a:ext cx="10430058" cy="4389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Figure</a:t>
            </a:r>
            <a:r>
              <a:rPr lang="en-US" sz="2592" strike="noStrike" u="none">
                <a:solidFill>
                  <a:srgbClr val="000000"/>
                </a:solidFill>
                <a:latin typeface="Open Sauce"/>
                <a:ea typeface="Open Sauce"/>
                <a:cs typeface="Open Sauce"/>
                <a:sym typeface="Open Sauce"/>
              </a:rPr>
              <a:t>:  Extraction of shift details from database</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0987389" y="7190182"/>
            <a:ext cx="2413748" cy="0"/>
          </a:xfrm>
          <a:prstGeom prst="line">
            <a:avLst/>
          </a:prstGeom>
          <a:ln cap="flat" w="104775">
            <a:solidFill>
              <a:srgbClr val="F70000"/>
            </a:solidFill>
            <a:prstDash val="solid"/>
            <a:headEnd type="none" len="sm" w="sm"/>
            <a:tailEnd type="arrow" len="sm" w="med"/>
          </a:ln>
        </p:spPr>
      </p:sp>
      <p:grpSp>
        <p:nvGrpSpPr>
          <p:cNvPr name="Group 3" id="3"/>
          <p:cNvGrpSpPr/>
          <p:nvPr/>
        </p:nvGrpSpPr>
        <p:grpSpPr>
          <a:xfrm rot="0">
            <a:off x="13401137" y="6577568"/>
            <a:ext cx="3858163" cy="1225230"/>
            <a:chOff x="0" y="0"/>
            <a:chExt cx="1016142" cy="322694"/>
          </a:xfrm>
        </p:grpSpPr>
        <p:sp>
          <p:nvSpPr>
            <p:cNvPr name="Freeform 4" id="4"/>
            <p:cNvSpPr/>
            <p:nvPr/>
          </p:nvSpPr>
          <p:spPr>
            <a:xfrm flipH="false" flipV="false" rot="0">
              <a:off x="0" y="0"/>
              <a:ext cx="1016142" cy="322694"/>
            </a:xfrm>
            <a:custGeom>
              <a:avLst/>
              <a:gdLst/>
              <a:ahLst/>
              <a:cxnLst/>
              <a:rect r="r" b="b" t="t" l="l"/>
              <a:pathLst>
                <a:path h="322694" w="1016142">
                  <a:moveTo>
                    <a:pt x="0" y="0"/>
                  </a:moveTo>
                  <a:lnTo>
                    <a:pt x="1016142" y="0"/>
                  </a:lnTo>
                  <a:lnTo>
                    <a:pt x="1016142" y="322694"/>
                  </a:lnTo>
                  <a:lnTo>
                    <a:pt x="0" y="322694"/>
                  </a:lnTo>
                  <a:close/>
                </a:path>
              </a:pathLst>
            </a:custGeom>
            <a:solidFill>
              <a:srgbClr val="FFFFFF"/>
            </a:solidFill>
            <a:ln w="38100" cap="sq">
              <a:solidFill>
                <a:srgbClr val="F70000"/>
              </a:solidFill>
              <a:prstDash val="solid"/>
              <a:miter/>
            </a:ln>
          </p:spPr>
        </p:sp>
        <p:sp>
          <p:nvSpPr>
            <p:cNvPr name="TextBox 5" id="5"/>
            <p:cNvSpPr txBox="true"/>
            <p:nvPr/>
          </p:nvSpPr>
          <p:spPr>
            <a:xfrm>
              <a:off x="0" y="-38100"/>
              <a:ext cx="1016142" cy="36079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18963" y="5690825"/>
            <a:ext cx="10277749" cy="3173485"/>
            <a:chOff x="0" y="0"/>
            <a:chExt cx="2706897" cy="835815"/>
          </a:xfrm>
        </p:grpSpPr>
        <p:sp>
          <p:nvSpPr>
            <p:cNvPr name="Freeform 7" id="7"/>
            <p:cNvSpPr/>
            <p:nvPr/>
          </p:nvSpPr>
          <p:spPr>
            <a:xfrm flipH="false" flipV="false" rot="0">
              <a:off x="0" y="0"/>
              <a:ext cx="2706897" cy="835815"/>
            </a:xfrm>
            <a:custGeom>
              <a:avLst/>
              <a:gdLst/>
              <a:ahLst/>
              <a:cxnLst/>
              <a:rect r="r" b="b" t="t" l="l"/>
              <a:pathLst>
                <a:path h="835815" w="2706897">
                  <a:moveTo>
                    <a:pt x="0" y="0"/>
                  </a:moveTo>
                  <a:lnTo>
                    <a:pt x="2706897" y="0"/>
                  </a:lnTo>
                  <a:lnTo>
                    <a:pt x="2706897" y="835815"/>
                  </a:lnTo>
                  <a:lnTo>
                    <a:pt x="0" y="835815"/>
                  </a:lnTo>
                  <a:close/>
                </a:path>
              </a:pathLst>
            </a:custGeom>
            <a:solidFill>
              <a:srgbClr val="FFFFFF"/>
            </a:solidFill>
            <a:ln w="38100" cap="sq">
              <a:solidFill>
                <a:srgbClr val="F70000"/>
              </a:solidFill>
              <a:prstDash val="solid"/>
              <a:miter/>
            </a:ln>
          </p:spPr>
        </p:sp>
        <p:sp>
          <p:nvSpPr>
            <p:cNvPr name="TextBox 8" id="8"/>
            <p:cNvSpPr txBox="true"/>
            <p:nvPr/>
          </p:nvSpPr>
          <p:spPr>
            <a:xfrm>
              <a:off x="0" y="-38100"/>
              <a:ext cx="2706897" cy="87391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4592" y="885825"/>
            <a:ext cx="3643074"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STEP 5 :</a:t>
            </a:r>
          </a:p>
        </p:txBody>
      </p:sp>
      <p:sp>
        <p:nvSpPr>
          <p:cNvPr name="TextBox 10" id="10"/>
          <p:cNvSpPr txBox="true"/>
          <p:nvPr/>
        </p:nvSpPr>
        <p:spPr>
          <a:xfrm rot="0">
            <a:off x="1028700" y="2261067"/>
            <a:ext cx="14576606" cy="2202395"/>
          </a:xfrm>
          <a:prstGeom prst="rect">
            <a:avLst/>
          </a:prstGeom>
        </p:spPr>
        <p:txBody>
          <a:bodyPr anchor="t" rtlCol="false" tIns="0" lIns="0" bIns="0" rIns="0">
            <a:spAutoFit/>
          </a:bodyPr>
          <a:lstStyle/>
          <a:p>
            <a:pPr algn="ctr">
              <a:lnSpc>
                <a:spcPts val="8808"/>
              </a:lnSpc>
              <a:spcBef>
                <a:spcPct val="0"/>
              </a:spcBef>
            </a:pPr>
            <a:r>
              <a:rPr lang="en-US" sz="6291">
                <a:solidFill>
                  <a:srgbClr val="000000"/>
                </a:solidFill>
                <a:latin typeface="Open Sauce"/>
                <a:ea typeface="Open Sauce"/>
                <a:cs typeface="Open Sauce"/>
                <a:sym typeface="Open Sauce"/>
              </a:rPr>
              <a:t>Fetch required number of employees per designation per shift </a:t>
            </a:r>
          </a:p>
        </p:txBody>
      </p:sp>
      <p:sp>
        <p:nvSpPr>
          <p:cNvPr name="TextBox 11" id="11"/>
          <p:cNvSpPr txBox="true"/>
          <p:nvPr/>
        </p:nvSpPr>
        <p:spPr>
          <a:xfrm rot="0">
            <a:off x="13734777" y="6591289"/>
            <a:ext cx="3211830" cy="962874"/>
          </a:xfrm>
          <a:prstGeom prst="rect">
            <a:avLst/>
          </a:prstGeom>
        </p:spPr>
        <p:txBody>
          <a:bodyPr anchor="t" rtlCol="false" tIns="0" lIns="0" bIns="0" rIns="0">
            <a:spAutoFit/>
          </a:bodyPr>
          <a:lstStyle/>
          <a:p>
            <a:pPr algn="ctr">
              <a:lnSpc>
                <a:spcPts val="7828"/>
              </a:lnSpc>
              <a:spcBef>
                <a:spcPct val="0"/>
              </a:spcBef>
            </a:pPr>
            <a:r>
              <a:rPr lang="en-US" b="true" sz="5591">
                <a:solidFill>
                  <a:srgbClr val="000000"/>
                </a:solidFill>
                <a:latin typeface="Open Sauce Bold"/>
                <a:ea typeface="Open Sauce Bold"/>
                <a:cs typeface="Open Sauce Bold"/>
                <a:sym typeface="Open Sauce Bold"/>
              </a:rPr>
              <a:t>Frontend</a:t>
            </a:r>
          </a:p>
        </p:txBody>
      </p:sp>
      <p:sp>
        <p:nvSpPr>
          <p:cNvPr name="TextBox 12" id="12"/>
          <p:cNvSpPr txBox="true"/>
          <p:nvPr/>
        </p:nvSpPr>
        <p:spPr>
          <a:xfrm rot="0">
            <a:off x="518963" y="5950079"/>
            <a:ext cx="10133398" cy="3650310"/>
          </a:xfrm>
          <a:prstGeom prst="rect">
            <a:avLst/>
          </a:prstGeom>
        </p:spPr>
        <p:txBody>
          <a:bodyPr anchor="t" rtlCol="false" tIns="0" lIns="0" bIns="0" rIns="0">
            <a:spAutoFit/>
          </a:bodyPr>
          <a:lstStyle/>
          <a:p>
            <a:pPr algn="ctr">
              <a:lnSpc>
                <a:spcPts val="4190"/>
              </a:lnSpc>
            </a:pPr>
            <a:r>
              <a:rPr lang="en-US" sz="2993">
                <a:solidFill>
                  <a:srgbClr val="000000"/>
                </a:solidFill>
                <a:latin typeface="Open Sauce"/>
                <a:ea typeface="Open Sauce"/>
                <a:cs typeface="Open Sauce"/>
                <a:sym typeface="Open Sauce"/>
              </a:rPr>
              <a:t>designation_count = {</a:t>
            </a:r>
          </a:p>
          <a:p>
            <a:pPr algn="ctr">
              <a:lnSpc>
                <a:spcPts val="4190"/>
              </a:lnSpc>
            </a:pPr>
            <a:r>
              <a:rPr lang="en-US" sz="2993">
                <a:solidFill>
                  <a:srgbClr val="000000"/>
                </a:solidFill>
                <a:latin typeface="Open Sauce"/>
                <a:ea typeface="Open Sauce"/>
                <a:cs typeface="Open Sauce"/>
                <a:sym typeface="Open Sauce"/>
              </a:rPr>
              <a:t>Cashier : {Morning :6 , Day :8 , Evening :9 , Night : 5},</a:t>
            </a:r>
          </a:p>
          <a:p>
            <a:pPr algn="ctr">
              <a:lnSpc>
                <a:spcPts val="4190"/>
              </a:lnSpc>
            </a:pPr>
            <a:r>
              <a:rPr lang="en-US" sz="2993">
                <a:solidFill>
                  <a:srgbClr val="000000"/>
                </a:solidFill>
                <a:latin typeface="Open Sauce"/>
                <a:ea typeface="Open Sauce"/>
                <a:cs typeface="Open Sauce"/>
                <a:sym typeface="Open Sauce"/>
              </a:rPr>
              <a:t>Supervisor : {Morning :8 , Day :6 , Evening :5 , Night : 4},</a:t>
            </a:r>
          </a:p>
          <a:p>
            <a:pPr algn="ctr">
              <a:lnSpc>
                <a:spcPts val="4190"/>
              </a:lnSpc>
            </a:pPr>
            <a:r>
              <a:rPr lang="en-US" sz="2993">
                <a:solidFill>
                  <a:srgbClr val="000000"/>
                </a:solidFill>
                <a:latin typeface="Open Sauce"/>
                <a:ea typeface="Open Sauce"/>
                <a:cs typeface="Open Sauce"/>
                <a:sym typeface="Open Sauce"/>
              </a:rPr>
              <a:t>Manager : {Morning :6 , Day :8 , Evening :9 , Night : 5},</a:t>
            </a:r>
          </a:p>
          <a:p>
            <a:pPr algn="ctr">
              <a:lnSpc>
                <a:spcPts val="4190"/>
              </a:lnSpc>
            </a:pPr>
            <a:r>
              <a:rPr lang="en-US" sz="2993">
                <a:solidFill>
                  <a:srgbClr val="000000"/>
                </a:solidFill>
                <a:latin typeface="Open Sauce"/>
                <a:ea typeface="Open Sauce"/>
                <a:cs typeface="Open Sauce"/>
                <a:sym typeface="Open Sauce"/>
              </a:rPr>
              <a:t>and so on }</a:t>
            </a:r>
          </a:p>
          <a:p>
            <a:pPr algn="ctr">
              <a:lnSpc>
                <a:spcPts val="4190"/>
              </a:lnSpc>
            </a:pPr>
          </a:p>
          <a:p>
            <a:pPr algn="ctr">
              <a:lnSpc>
                <a:spcPts val="4190"/>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846130" y="4955068"/>
            <a:ext cx="12863667" cy="3086100"/>
            <a:chOff x="0" y="0"/>
            <a:chExt cx="3387962" cy="812800"/>
          </a:xfrm>
        </p:grpSpPr>
        <p:sp>
          <p:nvSpPr>
            <p:cNvPr name="Freeform 3" id="3"/>
            <p:cNvSpPr/>
            <p:nvPr/>
          </p:nvSpPr>
          <p:spPr>
            <a:xfrm flipH="false" flipV="false" rot="0">
              <a:off x="0" y="0"/>
              <a:ext cx="3387961" cy="812800"/>
            </a:xfrm>
            <a:custGeom>
              <a:avLst/>
              <a:gdLst/>
              <a:ahLst/>
              <a:cxnLst/>
              <a:rect r="r" b="b" t="t" l="l"/>
              <a:pathLst>
                <a:path h="812800" w="3387961">
                  <a:moveTo>
                    <a:pt x="0" y="0"/>
                  </a:moveTo>
                  <a:lnTo>
                    <a:pt x="3387961" y="0"/>
                  </a:lnTo>
                  <a:lnTo>
                    <a:pt x="3387961" y="812800"/>
                  </a:lnTo>
                  <a:lnTo>
                    <a:pt x="0" y="812800"/>
                  </a:lnTo>
                  <a:close/>
                </a:path>
              </a:pathLst>
            </a:custGeom>
            <a:solidFill>
              <a:srgbClr val="FFFFFF"/>
            </a:solidFill>
            <a:ln w="38100" cap="sq">
              <a:solidFill>
                <a:srgbClr val="F70000"/>
              </a:solidFill>
              <a:prstDash val="solid"/>
              <a:miter/>
            </a:ln>
          </p:spPr>
        </p:sp>
        <p:sp>
          <p:nvSpPr>
            <p:cNvPr name="TextBox 4" id="4"/>
            <p:cNvSpPr txBox="true"/>
            <p:nvPr/>
          </p:nvSpPr>
          <p:spPr>
            <a:xfrm>
              <a:off x="0" y="-38100"/>
              <a:ext cx="3387962" cy="8509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1913" y="885825"/>
            <a:ext cx="3648432"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STEP 6 :</a:t>
            </a:r>
          </a:p>
        </p:txBody>
      </p:sp>
      <p:sp>
        <p:nvSpPr>
          <p:cNvPr name="TextBox 6" id="6"/>
          <p:cNvSpPr txBox="true"/>
          <p:nvPr/>
        </p:nvSpPr>
        <p:spPr>
          <a:xfrm rot="0">
            <a:off x="1024592" y="2261067"/>
            <a:ext cx="10803565" cy="1087970"/>
          </a:xfrm>
          <a:prstGeom prst="rect">
            <a:avLst/>
          </a:prstGeom>
        </p:spPr>
        <p:txBody>
          <a:bodyPr anchor="t" rtlCol="false" tIns="0" lIns="0" bIns="0" rIns="0">
            <a:spAutoFit/>
          </a:bodyPr>
          <a:lstStyle/>
          <a:p>
            <a:pPr algn="ctr">
              <a:lnSpc>
                <a:spcPts val="8808"/>
              </a:lnSpc>
              <a:spcBef>
                <a:spcPct val="0"/>
              </a:spcBef>
            </a:pPr>
            <a:r>
              <a:rPr lang="en-US" sz="6291">
                <a:solidFill>
                  <a:srgbClr val="000000"/>
                </a:solidFill>
                <a:latin typeface="Open Sauce"/>
                <a:ea typeface="Open Sauce"/>
                <a:cs typeface="Open Sauce"/>
                <a:sym typeface="Open Sauce"/>
              </a:rPr>
              <a:t>Filter available employees </a:t>
            </a:r>
          </a:p>
        </p:txBody>
      </p:sp>
      <p:sp>
        <p:nvSpPr>
          <p:cNvPr name="TextBox 7" id="7"/>
          <p:cNvSpPr txBox="true"/>
          <p:nvPr/>
        </p:nvSpPr>
        <p:spPr>
          <a:xfrm rot="0">
            <a:off x="3004661" y="5312198"/>
            <a:ext cx="12278677" cy="2034753"/>
          </a:xfrm>
          <a:prstGeom prst="rect">
            <a:avLst/>
          </a:prstGeom>
        </p:spPr>
        <p:txBody>
          <a:bodyPr anchor="t" rtlCol="false" tIns="0" lIns="0" bIns="0" rIns="0">
            <a:spAutoFit/>
          </a:bodyPr>
          <a:lstStyle/>
          <a:p>
            <a:pPr algn="ctr">
              <a:lnSpc>
                <a:spcPts val="5448"/>
              </a:lnSpc>
            </a:pPr>
            <a:r>
              <a:rPr lang="en-US" sz="3891">
                <a:solidFill>
                  <a:srgbClr val="000000"/>
                </a:solidFill>
                <a:latin typeface="Open Sauce"/>
                <a:ea typeface="Open Sauce"/>
                <a:cs typeface="Open Sauce"/>
                <a:sym typeface="Open Sauce"/>
              </a:rPr>
              <a:t>Based On </a:t>
            </a:r>
          </a:p>
          <a:p>
            <a:pPr algn="l" marL="840200" indent="-420100" lvl="1">
              <a:lnSpc>
                <a:spcPts val="5448"/>
              </a:lnSpc>
              <a:buFont typeface="Arial"/>
              <a:buChar char="•"/>
            </a:pPr>
            <a:r>
              <a:rPr lang="en-US" sz="3891">
                <a:solidFill>
                  <a:srgbClr val="000000"/>
                </a:solidFill>
                <a:latin typeface="Open Sauce"/>
                <a:ea typeface="Open Sauce"/>
                <a:cs typeface="Open Sauce"/>
                <a:sym typeface="Open Sauce"/>
              </a:rPr>
              <a:t>whether they’ve reached Max_shifts_per_day</a:t>
            </a:r>
          </a:p>
          <a:p>
            <a:pPr algn="l" marL="840200" indent="-420100" lvl="1">
              <a:lnSpc>
                <a:spcPts val="5448"/>
              </a:lnSpc>
              <a:buFont typeface="Arial"/>
              <a:buChar char="•"/>
            </a:pPr>
            <a:r>
              <a:rPr lang="en-US" sz="3891">
                <a:solidFill>
                  <a:srgbClr val="000000"/>
                </a:solidFill>
                <a:latin typeface="Open Sauce"/>
                <a:ea typeface="Open Sauce"/>
                <a:cs typeface="Open Sauce"/>
                <a:sym typeface="Open Sauce"/>
              </a:rPr>
              <a:t>whether they’ll exceed maximum working hours</a:t>
            </a:r>
          </a:p>
        </p:txBody>
      </p:sp>
      <p:sp>
        <p:nvSpPr>
          <p:cNvPr name="AutoShape 8" id="8"/>
          <p:cNvSpPr/>
          <p:nvPr/>
        </p:nvSpPr>
        <p:spPr>
          <a:xfrm>
            <a:off x="9277963" y="3349037"/>
            <a:ext cx="125050" cy="1638161"/>
          </a:xfrm>
          <a:prstGeom prst="line">
            <a:avLst/>
          </a:prstGeom>
          <a:ln cap="flat" w="104775">
            <a:solidFill>
              <a:srgbClr val="F70000"/>
            </a:solidFill>
            <a:prstDash val="solid"/>
            <a:headEnd type="none" len="sm" w="sm"/>
            <a:tailEnd type="arrow" len="sm" w="med"/>
          </a:ln>
        </p:spPr>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032044" y="6541222"/>
            <a:ext cx="14176883" cy="2856001"/>
            <a:chOff x="0" y="0"/>
            <a:chExt cx="3733829" cy="752198"/>
          </a:xfrm>
        </p:grpSpPr>
        <p:sp>
          <p:nvSpPr>
            <p:cNvPr name="Freeform 3" id="3"/>
            <p:cNvSpPr/>
            <p:nvPr/>
          </p:nvSpPr>
          <p:spPr>
            <a:xfrm flipH="false" flipV="false" rot="0">
              <a:off x="0" y="0"/>
              <a:ext cx="3733829" cy="752198"/>
            </a:xfrm>
            <a:custGeom>
              <a:avLst/>
              <a:gdLst/>
              <a:ahLst/>
              <a:cxnLst/>
              <a:rect r="r" b="b" t="t" l="l"/>
              <a:pathLst>
                <a:path h="752198" w="3733829">
                  <a:moveTo>
                    <a:pt x="0" y="0"/>
                  </a:moveTo>
                  <a:lnTo>
                    <a:pt x="3733829" y="0"/>
                  </a:lnTo>
                  <a:lnTo>
                    <a:pt x="3733829" y="752198"/>
                  </a:lnTo>
                  <a:lnTo>
                    <a:pt x="0" y="752198"/>
                  </a:lnTo>
                  <a:close/>
                </a:path>
              </a:pathLst>
            </a:custGeom>
            <a:solidFill>
              <a:srgbClr val="FFFFFF"/>
            </a:solidFill>
            <a:ln w="38100" cap="sq">
              <a:solidFill>
                <a:srgbClr val="F70000"/>
              </a:solidFill>
              <a:prstDash val="solid"/>
              <a:miter/>
            </a:ln>
          </p:spPr>
        </p:sp>
        <p:sp>
          <p:nvSpPr>
            <p:cNvPr name="TextBox 4" id="4"/>
            <p:cNvSpPr txBox="true"/>
            <p:nvPr/>
          </p:nvSpPr>
          <p:spPr>
            <a:xfrm>
              <a:off x="0" y="-38100"/>
              <a:ext cx="3733829" cy="79029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53465" y="885825"/>
            <a:ext cx="3585329"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STEP 7 :</a:t>
            </a:r>
          </a:p>
        </p:txBody>
      </p:sp>
      <p:sp>
        <p:nvSpPr>
          <p:cNvPr name="TextBox 6" id="6"/>
          <p:cNvSpPr txBox="true"/>
          <p:nvPr/>
        </p:nvSpPr>
        <p:spPr>
          <a:xfrm rot="0">
            <a:off x="1024592" y="2261067"/>
            <a:ext cx="16234708" cy="2202395"/>
          </a:xfrm>
          <a:prstGeom prst="rect">
            <a:avLst/>
          </a:prstGeom>
        </p:spPr>
        <p:txBody>
          <a:bodyPr anchor="t" rtlCol="false" tIns="0" lIns="0" bIns="0" rIns="0">
            <a:spAutoFit/>
          </a:bodyPr>
          <a:lstStyle/>
          <a:p>
            <a:pPr algn="l">
              <a:lnSpc>
                <a:spcPts val="8808"/>
              </a:lnSpc>
              <a:spcBef>
                <a:spcPct val="0"/>
              </a:spcBef>
            </a:pPr>
            <a:r>
              <a:rPr lang="en-US" sz="6291">
                <a:solidFill>
                  <a:srgbClr val="000000"/>
                </a:solidFill>
                <a:latin typeface="Open Sauce"/>
                <a:ea typeface="Open Sauce"/>
                <a:cs typeface="Open Sauce"/>
                <a:sym typeface="Open Sauce"/>
              </a:rPr>
              <a:t>P</a:t>
            </a:r>
            <a:r>
              <a:rPr lang="en-US" sz="6291">
                <a:solidFill>
                  <a:srgbClr val="000000"/>
                </a:solidFill>
                <a:latin typeface="Open Sauce"/>
                <a:ea typeface="Open Sauce"/>
                <a:cs typeface="Open Sauce"/>
                <a:sym typeface="Open Sauce"/>
              </a:rPr>
              <a:t>rioritize</a:t>
            </a:r>
            <a:r>
              <a:rPr lang="en-US" sz="6291">
                <a:solidFill>
                  <a:srgbClr val="000000"/>
                </a:solidFill>
                <a:latin typeface="Open Sauce"/>
                <a:ea typeface="Open Sauce"/>
                <a:cs typeface="Open Sauce"/>
                <a:sym typeface="Open Sauce"/>
              </a:rPr>
              <a:t> Employee with Least Working Hours</a:t>
            </a:r>
          </a:p>
        </p:txBody>
      </p:sp>
      <p:sp>
        <p:nvSpPr>
          <p:cNvPr name="TextBox 7" id="7"/>
          <p:cNvSpPr txBox="true"/>
          <p:nvPr/>
        </p:nvSpPr>
        <p:spPr>
          <a:xfrm rot="0">
            <a:off x="2846130" y="6913746"/>
            <a:ext cx="12548712" cy="2034753"/>
          </a:xfrm>
          <a:prstGeom prst="rect">
            <a:avLst/>
          </a:prstGeom>
        </p:spPr>
        <p:txBody>
          <a:bodyPr anchor="t" rtlCol="false" tIns="0" lIns="0" bIns="0" rIns="0">
            <a:spAutoFit/>
          </a:bodyPr>
          <a:lstStyle/>
          <a:p>
            <a:pPr algn="ctr">
              <a:lnSpc>
                <a:spcPts val="5448"/>
              </a:lnSpc>
            </a:pPr>
            <a:r>
              <a:rPr lang="en-US" sz="3891">
                <a:solidFill>
                  <a:srgbClr val="000000"/>
                </a:solidFill>
                <a:latin typeface="Open Sauce"/>
                <a:ea typeface="Open Sauce"/>
                <a:cs typeface="Open Sauce"/>
                <a:sym typeface="Open Sauce"/>
              </a:rPr>
              <a:t>Employee 1                               Employee 2</a:t>
            </a:r>
          </a:p>
          <a:p>
            <a:pPr algn="just">
              <a:lnSpc>
                <a:spcPts val="5448"/>
              </a:lnSpc>
            </a:pPr>
            <a:r>
              <a:rPr lang="en-US" sz="3891">
                <a:solidFill>
                  <a:srgbClr val="000000"/>
                </a:solidFill>
                <a:latin typeface="Open Sauce"/>
                <a:ea typeface="Open Sauce"/>
                <a:cs typeface="Open Sauce"/>
                <a:sym typeface="Open Sauce"/>
              </a:rPr>
              <a:t>Working_Hours : 10                   Working_hours: 12</a:t>
            </a:r>
          </a:p>
          <a:p>
            <a:pPr algn="just">
              <a:lnSpc>
                <a:spcPts val="5448"/>
              </a:lnSpc>
              <a:spcBef>
                <a:spcPct val="0"/>
              </a:spcBef>
            </a:pPr>
            <a:r>
              <a:rPr lang="en-US" sz="3891">
                <a:solidFill>
                  <a:srgbClr val="000000"/>
                </a:solidFill>
                <a:latin typeface="Open Sauce"/>
                <a:ea typeface="Open Sauce"/>
                <a:cs typeface="Open Sauce"/>
                <a:sym typeface="Open Sauce"/>
              </a:rPr>
              <a:t>Designation : Cashier                 Designation : Cashier </a:t>
            </a:r>
          </a:p>
        </p:txBody>
      </p:sp>
      <p:sp>
        <p:nvSpPr>
          <p:cNvPr name="AutoShape 8" id="8"/>
          <p:cNvSpPr/>
          <p:nvPr/>
        </p:nvSpPr>
        <p:spPr>
          <a:xfrm>
            <a:off x="5616416" y="5143500"/>
            <a:ext cx="0" cy="1846446"/>
          </a:xfrm>
          <a:prstGeom prst="line">
            <a:avLst/>
          </a:prstGeom>
          <a:ln cap="flat" w="95250">
            <a:solidFill>
              <a:srgbClr val="F70000"/>
            </a:solidFill>
            <a:prstDash val="solid"/>
            <a:headEnd type="none" len="sm" w="sm"/>
            <a:tailEnd type="arrow" len="sm" w="med"/>
          </a:ln>
        </p:spPr>
      </p:sp>
      <p:sp>
        <p:nvSpPr>
          <p:cNvPr name="TextBox 9" id="9"/>
          <p:cNvSpPr txBox="true"/>
          <p:nvPr/>
        </p:nvSpPr>
        <p:spPr>
          <a:xfrm rot="0">
            <a:off x="4638794" y="4480347"/>
            <a:ext cx="1955244" cy="663153"/>
          </a:xfrm>
          <a:prstGeom prst="rect">
            <a:avLst/>
          </a:prstGeom>
        </p:spPr>
        <p:txBody>
          <a:bodyPr anchor="t" rtlCol="false" tIns="0" lIns="0" bIns="0" rIns="0">
            <a:spAutoFit/>
          </a:bodyPr>
          <a:lstStyle/>
          <a:p>
            <a:pPr algn="ctr">
              <a:lnSpc>
                <a:spcPts val="5448"/>
              </a:lnSpc>
              <a:spcBef>
                <a:spcPct val="0"/>
              </a:spcBef>
            </a:pPr>
            <a:r>
              <a:rPr lang="en-US" b="true" sz="3891">
                <a:solidFill>
                  <a:srgbClr val="F70000"/>
                </a:solidFill>
                <a:latin typeface="Open Sauce Bold"/>
                <a:ea typeface="Open Sauce Bold"/>
                <a:cs typeface="Open Sauce Bold"/>
                <a:sym typeface="Open Sauce Bold"/>
              </a:rPr>
              <a:t>ASSIGN</a:t>
            </a: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303080" y="6616454"/>
            <a:ext cx="15747343" cy="2641846"/>
            <a:chOff x="0" y="0"/>
            <a:chExt cx="4147448" cy="695795"/>
          </a:xfrm>
        </p:grpSpPr>
        <p:sp>
          <p:nvSpPr>
            <p:cNvPr name="Freeform 3" id="3"/>
            <p:cNvSpPr/>
            <p:nvPr/>
          </p:nvSpPr>
          <p:spPr>
            <a:xfrm flipH="false" flipV="false" rot="0">
              <a:off x="0" y="0"/>
              <a:ext cx="4147448" cy="695795"/>
            </a:xfrm>
            <a:custGeom>
              <a:avLst/>
              <a:gdLst/>
              <a:ahLst/>
              <a:cxnLst/>
              <a:rect r="r" b="b" t="t" l="l"/>
              <a:pathLst>
                <a:path h="695795" w="4147448">
                  <a:moveTo>
                    <a:pt x="0" y="0"/>
                  </a:moveTo>
                  <a:lnTo>
                    <a:pt x="4147448" y="0"/>
                  </a:lnTo>
                  <a:lnTo>
                    <a:pt x="4147448" y="695795"/>
                  </a:lnTo>
                  <a:lnTo>
                    <a:pt x="0" y="695795"/>
                  </a:lnTo>
                  <a:close/>
                </a:path>
              </a:pathLst>
            </a:custGeom>
            <a:solidFill>
              <a:srgbClr val="FFFFFF"/>
            </a:solidFill>
            <a:ln w="38100" cap="sq">
              <a:solidFill>
                <a:srgbClr val="F70000"/>
              </a:solidFill>
              <a:prstDash val="solid"/>
              <a:miter/>
            </a:ln>
          </p:spPr>
        </p:sp>
        <p:sp>
          <p:nvSpPr>
            <p:cNvPr name="TextBox 4" id="4"/>
            <p:cNvSpPr txBox="true"/>
            <p:nvPr/>
          </p:nvSpPr>
          <p:spPr>
            <a:xfrm>
              <a:off x="0" y="-38100"/>
              <a:ext cx="4147448" cy="73389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19235" y="885825"/>
            <a:ext cx="3653790"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STEP 8 :</a:t>
            </a:r>
          </a:p>
        </p:txBody>
      </p:sp>
      <p:sp>
        <p:nvSpPr>
          <p:cNvPr name="TextBox 6" id="6"/>
          <p:cNvSpPr txBox="true"/>
          <p:nvPr/>
        </p:nvSpPr>
        <p:spPr>
          <a:xfrm rot="0">
            <a:off x="1024592" y="2261067"/>
            <a:ext cx="16234708" cy="1087970"/>
          </a:xfrm>
          <a:prstGeom prst="rect">
            <a:avLst/>
          </a:prstGeom>
        </p:spPr>
        <p:txBody>
          <a:bodyPr anchor="t" rtlCol="false" tIns="0" lIns="0" bIns="0" rIns="0">
            <a:spAutoFit/>
          </a:bodyPr>
          <a:lstStyle/>
          <a:p>
            <a:pPr algn="l">
              <a:lnSpc>
                <a:spcPts val="8808"/>
              </a:lnSpc>
              <a:spcBef>
                <a:spcPct val="0"/>
              </a:spcBef>
            </a:pPr>
            <a:r>
              <a:rPr lang="en-US" sz="6291">
                <a:solidFill>
                  <a:srgbClr val="000000"/>
                </a:solidFill>
                <a:latin typeface="Open Sauce"/>
                <a:ea typeface="Open Sauce"/>
                <a:cs typeface="Open Sauce"/>
                <a:sym typeface="Open Sauce"/>
              </a:rPr>
              <a:t>Assign Employees to Shift</a:t>
            </a:r>
          </a:p>
        </p:txBody>
      </p:sp>
      <p:sp>
        <p:nvSpPr>
          <p:cNvPr name="TextBox 7" id="7"/>
          <p:cNvSpPr txBox="true"/>
          <p:nvPr/>
        </p:nvSpPr>
        <p:spPr>
          <a:xfrm rot="0">
            <a:off x="1028700" y="4314701"/>
            <a:ext cx="9216152" cy="795233"/>
          </a:xfrm>
          <a:prstGeom prst="rect">
            <a:avLst/>
          </a:prstGeom>
        </p:spPr>
        <p:txBody>
          <a:bodyPr anchor="t" rtlCol="false" tIns="0" lIns="0" bIns="0" rIns="0">
            <a:spAutoFit/>
          </a:bodyPr>
          <a:lstStyle/>
          <a:p>
            <a:pPr algn="ctr">
              <a:lnSpc>
                <a:spcPts val="6568"/>
              </a:lnSpc>
              <a:spcBef>
                <a:spcPct val="0"/>
              </a:spcBef>
            </a:pPr>
            <a:r>
              <a:rPr lang="en-US" sz="4691">
                <a:solidFill>
                  <a:srgbClr val="000000"/>
                </a:solidFill>
                <a:latin typeface="Open Sauce"/>
                <a:ea typeface="Open Sauce"/>
                <a:cs typeface="Open Sauce"/>
                <a:sym typeface="Open Sauce"/>
              </a:rPr>
              <a:t>assigned_today { chosen_emp } </a:t>
            </a:r>
          </a:p>
        </p:txBody>
      </p:sp>
      <p:sp>
        <p:nvSpPr>
          <p:cNvPr name="TextBox 8" id="8"/>
          <p:cNvSpPr txBox="true"/>
          <p:nvPr/>
        </p:nvSpPr>
        <p:spPr>
          <a:xfrm rot="0">
            <a:off x="-2054" y="7328285"/>
            <a:ext cx="18288000" cy="1348953"/>
          </a:xfrm>
          <a:prstGeom prst="rect">
            <a:avLst/>
          </a:prstGeom>
        </p:spPr>
        <p:txBody>
          <a:bodyPr anchor="t" rtlCol="false" tIns="0" lIns="0" bIns="0" rIns="0">
            <a:spAutoFit/>
          </a:bodyPr>
          <a:lstStyle/>
          <a:p>
            <a:pPr algn="ctr">
              <a:lnSpc>
                <a:spcPts val="5448"/>
              </a:lnSpc>
              <a:spcBef>
                <a:spcPct val="0"/>
              </a:spcBef>
            </a:pPr>
            <a:r>
              <a:rPr lang="en-US" sz="3891">
                <a:solidFill>
                  <a:srgbClr val="000000"/>
                </a:solidFill>
                <a:latin typeface="Open Sauce"/>
                <a:ea typeface="Open Sauce"/>
                <a:cs typeface="Open Sauce"/>
                <a:sym typeface="Open Sauce"/>
              </a:rPr>
              <a:t>chosen_emp[Working_Hours] = chosen_emp[Working_Hours] + Shift_duration  </a:t>
            </a:r>
          </a:p>
        </p:txBody>
      </p:sp>
      <p:sp>
        <p:nvSpPr>
          <p:cNvPr name="AutoShape 9" id="9"/>
          <p:cNvSpPr/>
          <p:nvPr/>
        </p:nvSpPr>
        <p:spPr>
          <a:xfrm>
            <a:off x="9176751" y="5143500"/>
            <a:ext cx="0" cy="1472954"/>
          </a:xfrm>
          <a:prstGeom prst="line">
            <a:avLst/>
          </a:prstGeom>
          <a:ln cap="flat" w="123825">
            <a:solidFill>
              <a:srgbClr val="F70000"/>
            </a:solidFill>
            <a:prstDash val="solid"/>
            <a:headEnd type="none" len="sm" w="sm"/>
            <a:tailEnd type="arrow" len="sm" w="med"/>
          </a:ln>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1913" y="885825"/>
            <a:ext cx="3648432"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STEP 9 :</a:t>
            </a:r>
          </a:p>
        </p:txBody>
      </p:sp>
      <p:sp>
        <p:nvSpPr>
          <p:cNvPr name="TextBox 3" id="3"/>
          <p:cNvSpPr txBox="true"/>
          <p:nvPr/>
        </p:nvSpPr>
        <p:spPr>
          <a:xfrm rot="0">
            <a:off x="1024592" y="2261067"/>
            <a:ext cx="16234708" cy="1087970"/>
          </a:xfrm>
          <a:prstGeom prst="rect">
            <a:avLst/>
          </a:prstGeom>
        </p:spPr>
        <p:txBody>
          <a:bodyPr anchor="t" rtlCol="false" tIns="0" lIns="0" bIns="0" rIns="0">
            <a:spAutoFit/>
          </a:bodyPr>
          <a:lstStyle/>
          <a:p>
            <a:pPr algn="l">
              <a:lnSpc>
                <a:spcPts val="8808"/>
              </a:lnSpc>
              <a:spcBef>
                <a:spcPct val="0"/>
              </a:spcBef>
            </a:pPr>
            <a:r>
              <a:rPr lang="en-US" sz="6291">
                <a:solidFill>
                  <a:srgbClr val="000000"/>
                </a:solidFill>
                <a:latin typeface="Open Sauce"/>
                <a:ea typeface="Open Sauce"/>
                <a:cs typeface="Open Sauce"/>
                <a:sym typeface="Open Sauce"/>
              </a:rPr>
              <a:t>Store Employee Assignment in Database</a:t>
            </a:r>
          </a:p>
        </p:txBody>
      </p:sp>
      <p:sp>
        <p:nvSpPr>
          <p:cNvPr name="Freeform 4" id="4"/>
          <p:cNvSpPr/>
          <p:nvPr/>
        </p:nvSpPr>
        <p:spPr>
          <a:xfrm flipH="false" flipV="false" rot="0">
            <a:off x="11452818" y="3811046"/>
            <a:ext cx="4341476" cy="5447254"/>
          </a:xfrm>
          <a:custGeom>
            <a:avLst/>
            <a:gdLst/>
            <a:ahLst/>
            <a:cxnLst/>
            <a:rect r="r" b="b" t="t" l="l"/>
            <a:pathLst>
              <a:path h="5447254" w="4341476">
                <a:moveTo>
                  <a:pt x="0" y="0"/>
                </a:moveTo>
                <a:lnTo>
                  <a:pt x="4341476" y="0"/>
                </a:lnTo>
                <a:lnTo>
                  <a:pt x="4341476" y="5447254"/>
                </a:lnTo>
                <a:lnTo>
                  <a:pt x="0" y="5447254"/>
                </a:lnTo>
                <a:lnTo>
                  <a:pt x="0" y="0"/>
                </a:lnTo>
                <a:close/>
              </a:path>
            </a:pathLst>
          </a:custGeom>
          <a:blipFill>
            <a:blip r:embed="rId2"/>
            <a:stretch>
              <a:fillRect l="-50625" t="0" r="0" b="0"/>
            </a:stretch>
          </a:blipFill>
        </p:spPr>
      </p:sp>
      <p:sp>
        <p:nvSpPr>
          <p:cNvPr name="TextBox 5" id="5"/>
          <p:cNvSpPr txBox="true"/>
          <p:nvPr/>
        </p:nvSpPr>
        <p:spPr>
          <a:xfrm rot="0">
            <a:off x="3394788" y="4072731"/>
            <a:ext cx="8058031" cy="663153"/>
          </a:xfrm>
          <a:prstGeom prst="rect">
            <a:avLst/>
          </a:prstGeom>
        </p:spPr>
        <p:txBody>
          <a:bodyPr anchor="t" rtlCol="false" tIns="0" lIns="0" bIns="0" rIns="0">
            <a:spAutoFit/>
          </a:bodyPr>
          <a:lstStyle/>
          <a:p>
            <a:pPr algn="ctr">
              <a:lnSpc>
                <a:spcPts val="5448"/>
              </a:lnSpc>
              <a:spcBef>
                <a:spcPct val="0"/>
              </a:spcBef>
            </a:pPr>
            <a:r>
              <a:rPr lang="en-US" sz="3891">
                <a:solidFill>
                  <a:srgbClr val="000000"/>
                </a:solidFill>
                <a:latin typeface="Open Sauce"/>
                <a:ea typeface="Open Sauce"/>
                <a:cs typeface="Open Sauce"/>
                <a:sym typeface="Open Sauce"/>
              </a:rPr>
              <a:t>i . Fetch Employee from database</a:t>
            </a:r>
          </a:p>
        </p:txBody>
      </p:sp>
      <p:sp>
        <p:nvSpPr>
          <p:cNvPr name="TextBox 6" id="6"/>
          <p:cNvSpPr txBox="true"/>
          <p:nvPr/>
        </p:nvSpPr>
        <p:spPr>
          <a:xfrm rot="0">
            <a:off x="3394788" y="5067300"/>
            <a:ext cx="8700684" cy="1348953"/>
          </a:xfrm>
          <a:prstGeom prst="rect">
            <a:avLst/>
          </a:prstGeom>
        </p:spPr>
        <p:txBody>
          <a:bodyPr anchor="t" rtlCol="false" tIns="0" lIns="0" bIns="0" rIns="0">
            <a:spAutoFit/>
          </a:bodyPr>
          <a:lstStyle/>
          <a:p>
            <a:pPr algn="ctr">
              <a:lnSpc>
                <a:spcPts val="5448"/>
              </a:lnSpc>
              <a:spcBef>
                <a:spcPct val="0"/>
              </a:spcBef>
            </a:pPr>
            <a:r>
              <a:rPr lang="en-US" sz="3891">
                <a:solidFill>
                  <a:srgbClr val="000000"/>
                </a:solidFill>
                <a:latin typeface="Open Sauce"/>
                <a:ea typeface="Open Sauce"/>
                <a:cs typeface="Open Sauce"/>
                <a:sym typeface="Open Sauce"/>
              </a:rPr>
              <a:t>ii . Create a ShiftSchedule record to link employee to shift</a:t>
            </a:r>
          </a:p>
        </p:txBody>
      </p:sp>
      <p:sp>
        <p:nvSpPr>
          <p:cNvPr name="TextBox 7" id="7"/>
          <p:cNvSpPr txBox="true"/>
          <p:nvPr/>
        </p:nvSpPr>
        <p:spPr>
          <a:xfrm rot="0">
            <a:off x="9141946" y="9368245"/>
            <a:ext cx="10430058" cy="4389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Figure</a:t>
            </a:r>
            <a:r>
              <a:rPr lang="en-US" sz="2592" strike="noStrike" u="none">
                <a:solidFill>
                  <a:srgbClr val="000000"/>
                </a:solidFill>
                <a:latin typeface="Open Sauce"/>
                <a:ea typeface="Open Sauce"/>
                <a:cs typeface="Open Sauce"/>
                <a:sym typeface="Open Sauce"/>
              </a:rPr>
              <a:t>:  Fetching Employee from database</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482194" y="4632665"/>
            <a:ext cx="9323612" cy="2029400"/>
            <a:chOff x="0" y="0"/>
            <a:chExt cx="2455601" cy="534492"/>
          </a:xfrm>
        </p:grpSpPr>
        <p:sp>
          <p:nvSpPr>
            <p:cNvPr name="Freeform 3" id="3"/>
            <p:cNvSpPr/>
            <p:nvPr/>
          </p:nvSpPr>
          <p:spPr>
            <a:xfrm flipH="false" flipV="false" rot="0">
              <a:off x="0" y="0"/>
              <a:ext cx="2455601" cy="534492"/>
            </a:xfrm>
            <a:custGeom>
              <a:avLst/>
              <a:gdLst/>
              <a:ahLst/>
              <a:cxnLst/>
              <a:rect r="r" b="b" t="t" l="l"/>
              <a:pathLst>
                <a:path h="534492" w="2455601">
                  <a:moveTo>
                    <a:pt x="0" y="0"/>
                  </a:moveTo>
                  <a:lnTo>
                    <a:pt x="2455601" y="0"/>
                  </a:lnTo>
                  <a:lnTo>
                    <a:pt x="2455601" y="534492"/>
                  </a:lnTo>
                  <a:lnTo>
                    <a:pt x="0" y="534492"/>
                  </a:lnTo>
                  <a:close/>
                </a:path>
              </a:pathLst>
            </a:custGeom>
            <a:solidFill>
              <a:srgbClr val="FFFFFF"/>
            </a:solidFill>
            <a:ln w="38100" cap="sq">
              <a:solidFill>
                <a:srgbClr val="F70000"/>
              </a:solidFill>
              <a:prstDash val="solid"/>
              <a:miter/>
            </a:ln>
          </p:spPr>
        </p:sp>
        <p:sp>
          <p:nvSpPr>
            <p:cNvPr name="TextBox 4" id="4"/>
            <p:cNvSpPr txBox="true"/>
            <p:nvPr/>
          </p:nvSpPr>
          <p:spPr>
            <a:xfrm>
              <a:off x="0" y="-38100"/>
              <a:ext cx="2455601" cy="572592"/>
            </a:xfrm>
            <a:prstGeom prst="rect">
              <a:avLst/>
            </a:prstGeom>
          </p:spPr>
          <p:txBody>
            <a:bodyPr anchor="ctr" rtlCol="false" tIns="50800" lIns="50800" bIns="50800" rIns="50800"/>
            <a:lstStyle/>
            <a:p>
              <a:pPr algn="ctr">
                <a:lnSpc>
                  <a:spcPts val="3079"/>
                </a:lnSpc>
              </a:pPr>
            </a:p>
          </p:txBody>
        </p:sp>
      </p:grpSp>
      <p:sp>
        <p:nvSpPr>
          <p:cNvPr name="TextBox 5" id="5"/>
          <p:cNvSpPr txBox="true"/>
          <p:nvPr/>
        </p:nvSpPr>
        <p:spPr>
          <a:xfrm rot="0">
            <a:off x="815221" y="885825"/>
            <a:ext cx="4061817"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STEP 10 :</a:t>
            </a:r>
          </a:p>
        </p:txBody>
      </p:sp>
      <p:sp>
        <p:nvSpPr>
          <p:cNvPr name="TextBox 6" id="6"/>
          <p:cNvSpPr txBox="true"/>
          <p:nvPr/>
        </p:nvSpPr>
        <p:spPr>
          <a:xfrm rot="0">
            <a:off x="1024592" y="2261067"/>
            <a:ext cx="16234708" cy="1087970"/>
          </a:xfrm>
          <a:prstGeom prst="rect">
            <a:avLst/>
          </a:prstGeom>
        </p:spPr>
        <p:txBody>
          <a:bodyPr anchor="t" rtlCol="false" tIns="0" lIns="0" bIns="0" rIns="0">
            <a:spAutoFit/>
          </a:bodyPr>
          <a:lstStyle/>
          <a:p>
            <a:pPr algn="l">
              <a:lnSpc>
                <a:spcPts val="8808"/>
              </a:lnSpc>
              <a:spcBef>
                <a:spcPct val="0"/>
              </a:spcBef>
            </a:pPr>
            <a:r>
              <a:rPr lang="en-US" sz="6291">
                <a:solidFill>
                  <a:srgbClr val="000000"/>
                </a:solidFill>
                <a:latin typeface="Open Sauce"/>
                <a:ea typeface="Open Sauce"/>
                <a:cs typeface="Open Sauce"/>
                <a:sym typeface="Open Sauce"/>
              </a:rPr>
              <a:t>Store Assignment in Output Schedule</a:t>
            </a:r>
          </a:p>
        </p:txBody>
      </p:sp>
      <p:sp>
        <p:nvSpPr>
          <p:cNvPr name="TextBox 7" id="7"/>
          <p:cNvSpPr txBox="true"/>
          <p:nvPr/>
        </p:nvSpPr>
        <p:spPr>
          <a:xfrm rot="0">
            <a:off x="4805511" y="5243398"/>
            <a:ext cx="8672870" cy="722208"/>
          </a:xfrm>
          <a:prstGeom prst="rect">
            <a:avLst/>
          </a:prstGeom>
        </p:spPr>
        <p:txBody>
          <a:bodyPr anchor="t" rtlCol="false" tIns="0" lIns="0" bIns="0" rIns="0">
            <a:spAutoFit/>
          </a:bodyPr>
          <a:lstStyle/>
          <a:p>
            <a:pPr algn="ctr">
              <a:lnSpc>
                <a:spcPts val="5868"/>
              </a:lnSpc>
              <a:spcBef>
                <a:spcPct val="0"/>
              </a:spcBef>
            </a:pPr>
            <a:r>
              <a:rPr lang="en-US" sz="4191">
                <a:solidFill>
                  <a:srgbClr val="000000"/>
                </a:solidFill>
                <a:latin typeface="Open Sauce"/>
                <a:ea typeface="Open Sauce"/>
                <a:cs typeface="Open Sauce"/>
                <a:sym typeface="Open Sauce"/>
              </a:rPr>
              <a:t>Schedule = [ Assignment_details ]</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899181" y="2208097"/>
            <a:ext cx="10040938" cy="7797442"/>
            <a:chOff x="0" y="0"/>
            <a:chExt cx="2644527" cy="2053647"/>
          </a:xfrm>
        </p:grpSpPr>
        <p:sp>
          <p:nvSpPr>
            <p:cNvPr name="Freeform 3" id="3"/>
            <p:cNvSpPr/>
            <p:nvPr/>
          </p:nvSpPr>
          <p:spPr>
            <a:xfrm flipH="false" flipV="false" rot="0">
              <a:off x="0" y="0"/>
              <a:ext cx="2644527" cy="2053647"/>
            </a:xfrm>
            <a:custGeom>
              <a:avLst/>
              <a:gdLst/>
              <a:ahLst/>
              <a:cxnLst/>
              <a:rect r="r" b="b" t="t" l="l"/>
              <a:pathLst>
                <a:path h="2053647" w="2644527">
                  <a:moveTo>
                    <a:pt x="0" y="0"/>
                  </a:moveTo>
                  <a:lnTo>
                    <a:pt x="2644527" y="0"/>
                  </a:lnTo>
                  <a:lnTo>
                    <a:pt x="2644527" y="2053647"/>
                  </a:lnTo>
                  <a:lnTo>
                    <a:pt x="0" y="2053647"/>
                  </a:lnTo>
                  <a:close/>
                </a:path>
              </a:pathLst>
            </a:custGeom>
            <a:solidFill>
              <a:srgbClr val="FFFFFF"/>
            </a:solidFill>
            <a:ln w="38100" cap="sq">
              <a:solidFill>
                <a:srgbClr val="F70000"/>
              </a:solidFill>
              <a:prstDash val="solid"/>
              <a:miter/>
            </a:ln>
          </p:spPr>
        </p:sp>
        <p:sp>
          <p:nvSpPr>
            <p:cNvPr name="TextBox 4" id="4"/>
            <p:cNvSpPr txBox="true"/>
            <p:nvPr/>
          </p:nvSpPr>
          <p:spPr>
            <a:xfrm>
              <a:off x="0" y="-38100"/>
              <a:ext cx="2644527" cy="209174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720590" y="2337728"/>
            <a:ext cx="8846820" cy="11378778"/>
          </a:xfrm>
          <a:prstGeom prst="rect">
            <a:avLst/>
          </a:prstGeom>
        </p:spPr>
        <p:txBody>
          <a:bodyPr anchor="t" rtlCol="false" tIns="0" lIns="0" bIns="0" rIns="0">
            <a:spAutoFit/>
          </a:bodyPr>
          <a:lstStyle/>
          <a:p>
            <a:pPr algn="l">
              <a:lnSpc>
                <a:spcPts val="4048"/>
              </a:lnSpc>
            </a:pPr>
            <a:r>
              <a:rPr lang="en-US" sz="2891">
                <a:solidFill>
                  <a:srgbClr val="000000"/>
                </a:solidFill>
                <a:latin typeface="Open Sauce"/>
                <a:ea typeface="Open Sauce"/>
                <a:cs typeface="Open Sauce"/>
                <a:sym typeface="Open Sauce"/>
              </a:rPr>
              <a:t>Schedule = [</a:t>
            </a:r>
          </a:p>
          <a:p>
            <a:pPr algn="ctr">
              <a:lnSpc>
                <a:spcPts val="4048"/>
              </a:lnSpc>
            </a:pPr>
          </a:p>
          <a:p>
            <a:pPr algn="l">
              <a:lnSpc>
                <a:spcPts val="4048"/>
              </a:lnSpc>
            </a:pPr>
            <a:r>
              <a:rPr lang="en-US" sz="2891">
                <a:solidFill>
                  <a:srgbClr val="000000"/>
                </a:solidFill>
                <a:latin typeface="Open Sauce"/>
                <a:ea typeface="Open Sauce"/>
                <a:cs typeface="Open Sauce"/>
                <a:sym typeface="Open Sauce"/>
              </a:rPr>
              <a:t>{    “Day” : “Day1”,</a:t>
            </a:r>
          </a:p>
          <a:p>
            <a:pPr algn="l">
              <a:lnSpc>
                <a:spcPts val="4048"/>
              </a:lnSpc>
            </a:pPr>
            <a:r>
              <a:rPr lang="en-US" sz="2891">
                <a:solidFill>
                  <a:srgbClr val="000000"/>
                </a:solidFill>
                <a:latin typeface="Open Sauce"/>
                <a:ea typeface="Open Sauce"/>
                <a:cs typeface="Open Sauce"/>
                <a:sym typeface="Open Sauce"/>
              </a:rPr>
              <a:t>“Shift_id” : “Morning” ,</a:t>
            </a:r>
          </a:p>
          <a:p>
            <a:pPr algn="l">
              <a:lnSpc>
                <a:spcPts val="4048"/>
              </a:lnSpc>
            </a:pPr>
            <a:r>
              <a:rPr lang="en-US" sz="2891">
                <a:solidFill>
                  <a:srgbClr val="000000"/>
                </a:solidFill>
                <a:latin typeface="Open Sauce"/>
                <a:ea typeface="Open Sauce"/>
                <a:cs typeface="Open Sauce"/>
                <a:sym typeface="Open Sauce"/>
              </a:rPr>
              <a:t>“Shift_timing” : “7am to 11am”,</a:t>
            </a:r>
          </a:p>
          <a:p>
            <a:pPr algn="l">
              <a:lnSpc>
                <a:spcPts val="4048"/>
              </a:lnSpc>
            </a:pPr>
            <a:r>
              <a:rPr lang="en-US" sz="2891">
                <a:solidFill>
                  <a:srgbClr val="000000"/>
                </a:solidFill>
                <a:latin typeface="Open Sauce"/>
                <a:ea typeface="Open Sauce"/>
                <a:cs typeface="Open Sauce"/>
                <a:sym typeface="Open Sauce"/>
              </a:rPr>
              <a:t>“Designation” : chosen_emp [ ‘designation’],</a:t>
            </a:r>
          </a:p>
          <a:p>
            <a:pPr algn="l">
              <a:lnSpc>
                <a:spcPts val="4048"/>
              </a:lnSpc>
            </a:pPr>
            <a:r>
              <a:rPr lang="en-US" sz="2891">
                <a:solidFill>
                  <a:srgbClr val="000000"/>
                </a:solidFill>
                <a:latin typeface="Open Sauce"/>
                <a:ea typeface="Open Sauce"/>
                <a:cs typeface="Open Sauce"/>
                <a:sym typeface="Open Sauce"/>
              </a:rPr>
              <a:t>“e_id” : chosen_emp [ ‘e_id’ ],</a:t>
            </a:r>
          </a:p>
          <a:p>
            <a:pPr algn="l">
              <a:lnSpc>
                <a:spcPts val="4048"/>
              </a:lnSpc>
            </a:pPr>
            <a:r>
              <a:rPr lang="en-US" sz="2891">
                <a:solidFill>
                  <a:srgbClr val="000000"/>
                </a:solidFill>
                <a:latin typeface="Open Sauce"/>
                <a:ea typeface="Open Sauce"/>
                <a:cs typeface="Open Sauce"/>
                <a:sym typeface="Open Sauce"/>
              </a:rPr>
              <a:t>“name” : chosen_emp [ ‘e_name’ ],</a:t>
            </a:r>
          </a:p>
          <a:p>
            <a:pPr algn="l">
              <a:lnSpc>
                <a:spcPts val="4048"/>
              </a:lnSpc>
            </a:pPr>
            <a:r>
              <a:rPr lang="en-US" sz="2891">
                <a:solidFill>
                  <a:srgbClr val="000000"/>
                </a:solidFill>
                <a:latin typeface="Open Sauce"/>
                <a:ea typeface="Open Sauce"/>
                <a:cs typeface="Open Sauce"/>
                <a:sym typeface="Open Sauce"/>
              </a:rPr>
              <a:t>“email” : chosen_emp [ ‘e_gmail’ ],</a:t>
            </a:r>
          </a:p>
          <a:p>
            <a:pPr algn="l">
              <a:lnSpc>
                <a:spcPts val="4048"/>
              </a:lnSpc>
            </a:pPr>
            <a:r>
              <a:rPr lang="en-US" sz="2891">
                <a:solidFill>
                  <a:srgbClr val="000000"/>
                </a:solidFill>
                <a:latin typeface="Open Sauce"/>
                <a:ea typeface="Open Sauce"/>
                <a:cs typeface="Open Sauce"/>
                <a:sym typeface="Open Sauce"/>
              </a:rPr>
              <a:t>“Hours_assigned” : chosen_emp [ ‘shift_duration’ ]</a:t>
            </a:r>
          </a:p>
          <a:p>
            <a:pPr algn="l">
              <a:lnSpc>
                <a:spcPts val="4048"/>
              </a:lnSpc>
            </a:pPr>
            <a:r>
              <a:rPr lang="en-US" sz="2891">
                <a:solidFill>
                  <a:srgbClr val="000000"/>
                </a:solidFill>
                <a:latin typeface="Open Sauce"/>
                <a:ea typeface="Open Sauce"/>
                <a:cs typeface="Open Sauce"/>
                <a:sym typeface="Open Sauce"/>
              </a:rPr>
              <a:t>“Total Hours After Assignment” : 12 } ,</a:t>
            </a:r>
          </a:p>
          <a:p>
            <a:pPr algn="l">
              <a:lnSpc>
                <a:spcPts val="4048"/>
              </a:lnSpc>
            </a:pPr>
          </a:p>
          <a:p>
            <a:pPr algn="l">
              <a:lnSpc>
                <a:spcPts val="4048"/>
              </a:lnSpc>
            </a:pPr>
            <a:r>
              <a:rPr lang="en-US" sz="2891">
                <a:solidFill>
                  <a:srgbClr val="000000"/>
                </a:solidFill>
                <a:latin typeface="Open Sauce"/>
                <a:ea typeface="Open Sauce"/>
                <a:cs typeface="Open Sauce"/>
                <a:sym typeface="Open Sauce"/>
              </a:rPr>
              <a:t>{  “Day” : “Day2” , </a:t>
            </a:r>
          </a:p>
          <a:p>
            <a:pPr algn="l">
              <a:lnSpc>
                <a:spcPts val="4048"/>
              </a:lnSpc>
            </a:pPr>
            <a:r>
              <a:rPr lang="en-US" sz="2891">
                <a:solidFill>
                  <a:srgbClr val="000000"/>
                </a:solidFill>
                <a:latin typeface="Open Sauce"/>
                <a:ea typeface="Open Sauce"/>
                <a:cs typeface="Open Sauce"/>
                <a:sym typeface="Open Sauce"/>
              </a:rPr>
              <a:t>       .................... and so on } , </a:t>
            </a:r>
          </a:p>
          <a:p>
            <a:pPr algn="l">
              <a:lnSpc>
                <a:spcPts val="4048"/>
              </a:lnSpc>
            </a:pPr>
            <a:r>
              <a:rPr lang="en-US" sz="2891">
                <a:solidFill>
                  <a:srgbClr val="000000"/>
                </a:solidFill>
                <a:latin typeface="Open Sauce"/>
                <a:ea typeface="Open Sauce"/>
                <a:cs typeface="Open Sauce"/>
                <a:sym typeface="Open Sauce"/>
              </a:rPr>
              <a:t>]</a:t>
            </a:r>
          </a:p>
          <a:p>
            <a:pPr algn="l">
              <a:lnSpc>
                <a:spcPts val="4048"/>
              </a:lnSpc>
            </a:pPr>
          </a:p>
          <a:p>
            <a:pPr algn="l">
              <a:lnSpc>
                <a:spcPts val="4048"/>
              </a:lnSpc>
            </a:pPr>
          </a:p>
          <a:p>
            <a:pPr algn="l">
              <a:lnSpc>
                <a:spcPts val="4048"/>
              </a:lnSpc>
            </a:pPr>
          </a:p>
          <a:p>
            <a:pPr algn="l">
              <a:lnSpc>
                <a:spcPts val="4048"/>
              </a:lnSpc>
            </a:pPr>
          </a:p>
          <a:p>
            <a:pPr algn="ctr">
              <a:lnSpc>
                <a:spcPts val="4748"/>
              </a:lnSpc>
            </a:pPr>
          </a:p>
          <a:p>
            <a:pPr algn="ctr">
              <a:lnSpc>
                <a:spcPts val="4748"/>
              </a:lnSpc>
            </a:pPr>
          </a:p>
          <a:p>
            <a:pPr algn="ctr">
              <a:lnSpc>
                <a:spcPts val="4748"/>
              </a:lnSpc>
              <a:spcBef>
                <a:spcPct val="0"/>
              </a:spcBef>
            </a:pPr>
          </a:p>
        </p:txBody>
      </p:sp>
      <p:sp>
        <p:nvSpPr>
          <p:cNvPr name="TextBox 6" id="6"/>
          <p:cNvSpPr txBox="true"/>
          <p:nvPr/>
        </p:nvSpPr>
        <p:spPr>
          <a:xfrm rot="0">
            <a:off x="514350" y="895350"/>
            <a:ext cx="17259300" cy="1144485"/>
          </a:xfrm>
          <a:prstGeom prst="rect">
            <a:avLst/>
          </a:prstGeom>
        </p:spPr>
        <p:txBody>
          <a:bodyPr anchor="t" rtlCol="false" tIns="0" lIns="0" bIns="0" rIns="0">
            <a:spAutoFit/>
          </a:bodyPr>
          <a:lstStyle/>
          <a:p>
            <a:pPr algn="ctr">
              <a:lnSpc>
                <a:spcPts val="9368"/>
              </a:lnSpc>
              <a:spcBef>
                <a:spcPct val="0"/>
              </a:spcBef>
            </a:pPr>
            <a:r>
              <a:rPr lang="en-US" b="true" sz="6691">
                <a:solidFill>
                  <a:srgbClr val="000000"/>
                </a:solidFill>
                <a:latin typeface="Open Sauce Bold"/>
                <a:ea typeface="Open Sauce Bold"/>
                <a:cs typeface="Open Sauce Bold"/>
                <a:sym typeface="Open Sauce Bold"/>
              </a:rPr>
              <a:t>HOW OUTPUT IS STORED IN THE LIST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508660" y="1223157"/>
            <a:ext cx="11270681" cy="9732801"/>
          </a:xfrm>
          <a:custGeom>
            <a:avLst/>
            <a:gdLst/>
            <a:ahLst/>
            <a:cxnLst/>
            <a:rect r="r" b="b" t="t" l="l"/>
            <a:pathLst>
              <a:path h="9732801" w="11270681">
                <a:moveTo>
                  <a:pt x="0" y="0"/>
                </a:moveTo>
                <a:lnTo>
                  <a:pt x="11270680" y="0"/>
                </a:lnTo>
                <a:lnTo>
                  <a:pt x="11270680" y="9732801"/>
                </a:lnTo>
                <a:lnTo>
                  <a:pt x="0" y="9732801"/>
                </a:lnTo>
                <a:lnTo>
                  <a:pt x="0" y="0"/>
                </a:lnTo>
                <a:close/>
              </a:path>
            </a:pathLst>
          </a:custGeom>
          <a:blipFill>
            <a:blip r:embed="rId2"/>
            <a:stretch>
              <a:fillRect l="-1811" t="-14679" r="-2170" b="-651"/>
            </a:stretch>
          </a:blipFill>
        </p:spPr>
      </p:sp>
      <p:sp>
        <p:nvSpPr>
          <p:cNvPr name="TextBox 3" id="3"/>
          <p:cNvSpPr txBox="true"/>
          <p:nvPr/>
        </p:nvSpPr>
        <p:spPr>
          <a:xfrm rot="0">
            <a:off x="514350" y="78673"/>
            <a:ext cx="17259300" cy="1144485"/>
          </a:xfrm>
          <a:prstGeom prst="rect">
            <a:avLst/>
          </a:prstGeom>
        </p:spPr>
        <p:txBody>
          <a:bodyPr anchor="t" rtlCol="false" tIns="0" lIns="0" bIns="0" rIns="0">
            <a:spAutoFit/>
          </a:bodyPr>
          <a:lstStyle/>
          <a:p>
            <a:pPr algn="ctr">
              <a:lnSpc>
                <a:spcPts val="9368"/>
              </a:lnSpc>
              <a:spcBef>
                <a:spcPct val="0"/>
              </a:spcBef>
            </a:pPr>
            <a:r>
              <a:rPr lang="en-US" b="true" sz="6691">
                <a:solidFill>
                  <a:srgbClr val="000000"/>
                </a:solidFill>
                <a:latin typeface="Open Sauce Bold"/>
                <a:ea typeface="Open Sauce Bold"/>
                <a:cs typeface="Open Sauce Bold"/>
                <a:sym typeface="Open Sauce Bold"/>
              </a:rPr>
              <a:t>NESTED FOR LOOP</a:t>
            </a:r>
          </a:p>
        </p:txBody>
      </p:sp>
      <p:sp>
        <p:nvSpPr>
          <p:cNvPr name="TextBox 4" id="4"/>
          <p:cNvSpPr txBox="true"/>
          <p:nvPr/>
        </p:nvSpPr>
        <p:spPr>
          <a:xfrm rot="0">
            <a:off x="8469094" y="9458285"/>
            <a:ext cx="10430058" cy="438973"/>
          </a:xfrm>
          <a:prstGeom prst="rect">
            <a:avLst/>
          </a:prstGeom>
        </p:spPr>
        <p:txBody>
          <a:bodyPr anchor="t" rtlCol="false" tIns="0" lIns="0" bIns="0" rIns="0">
            <a:spAutoFit/>
          </a:bodyPr>
          <a:lstStyle/>
          <a:p>
            <a:pPr algn="ctr" marL="0" indent="0" lvl="0">
              <a:lnSpc>
                <a:spcPts val="3629"/>
              </a:lnSpc>
              <a:spcBef>
                <a:spcPct val="0"/>
              </a:spcBef>
            </a:pPr>
            <a:r>
              <a:rPr lang="en-US" sz="2592">
                <a:solidFill>
                  <a:srgbClr val="000000"/>
                </a:solidFill>
                <a:latin typeface="Open Sauce"/>
                <a:ea typeface="Open Sauce"/>
                <a:cs typeface="Open Sauce"/>
                <a:sym typeface="Open Sauce"/>
              </a:rPr>
              <a:t>Figure</a:t>
            </a:r>
            <a:r>
              <a:rPr lang="en-US" sz="2592" strike="noStrike" u="none">
                <a:solidFill>
                  <a:srgbClr val="000000"/>
                </a:solidFill>
                <a:latin typeface="Open Sauce"/>
                <a:ea typeface="Open Sauce"/>
                <a:cs typeface="Open Sauce"/>
                <a:sym typeface="Open Sauce"/>
              </a:rPr>
              <a:t>:  Nested For Loop of assignment function</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97054" y="4355435"/>
            <a:ext cx="17259300" cy="1220050"/>
          </a:xfrm>
          <a:prstGeom prst="rect">
            <a:avLst/>
          </a:prstGeom>
        </p:spPr>
        <p:txBody>
          <a:bodyPr anchor="t" rtlCol="false" tIns="0" lIns="0" bIns="0" rIns="0">
            <a:spAutoFit/>
          </a:bodyPr>
          <a:lstStyle/>
          <a:p>
            <a:pPr algn="ctr" marL="0" indent="0" lvl="0">
              <a:lnSpc>
                <a:spcPts val="9928"/>
              </a:lnSpc>
              <a:spcBef>
                <a:spcPct val="0"/>
              </a:spcBef>
            </a:pPr>
            <a:r>
              <a:rPr lang="en-US" b="true" sz="7091" strike="noStrike" u="none">
                <a:solidFill>
                  <a:srgbClr val="000000"/>
                </a:solidFill>
                <a:latin typeface="Open Sauce Bold"/>
                <a:ea typeface="Open Sauce Bold"/>
                <a:cs typeface="Open Sauce Bold"/>
                <a:sym typeface="Open Sauce Bold"/>
              </a:rPr>
              <a:t>OTHER FUNCTIONALITIES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27894" y="733296"/>
            <a:ext cx="5653572" cy="9063843"/>
          </a:xfrm>
          <a:custGeom>
            <a:avLst/>
            <a:gdLst/>
            <a:ahLst/>
            <a:cxnLst/>
            <a:rect r="r" b="b" t="t" l="l"/>
            <a:pathLst>
              <a:path h="9063843" w="5653572">
                <a:moveTo>
                  <a:pt x="0" y="0"/>
                </a:moveTo>
                <a:lnTo>
                  <a:pt x="5653572" y="0"/>
                </a:lnTo>
                <a:lnTo>
                  <a:pt x="5653572" y="9063843"/>
                </a:lnTo>
                <a:lnTo>
                  <a:pt x="0" y="9063843"/>
                </a:lnTo>
                <a:lnTo>
                  <a:pt x="0" y="0"/>
                </a:lnTo>
                <a:close/>
              </a:path>
            </a:pathLst>
          </a:custGeom>
          <a:blipFill>
            <a:blip r:embed="rId2"/>
            <a:stretch>
              <a:fillRect l="0" t="0" r="0" b="0"/>
            </a:stretch>
          </a:blipFill>
        </p:spPr>
      </p:sp>
      <p:grpSp>
        <p:nvGrpSpPr>
          <p:cNvPr name="Group 3" id="3"/>
          <p:cNvGrpSpPr/>
          <p:nvPr/>
        </p:nvGrpSpPr>
        <p:grpSpPr>
          <a:xfrm rot="0">
            <a:off x="12166844" y="814386"/>
            <a:ext cx="5335818" cy="3822847"/>
            <a:chOff x="0" y="0"/>
            <a:chExt cx="1309805" cy="938410"/>
          </a:xfrm>
        </p:grpSpPr>
        <p:sp>
          <p:nvSpPr>
            <p:cNvPr name="Freeform 4" id="4"/>
            <p:cNvSpPr/>
            <p:nvPr/>
          </p:nvSpPr>
          <p:spPr>
            <a:xfrm flipH="false" flipV="false" rot="0">
              <a:off x="0" y="0"/>
              <a:ext cx="1309805" cy="938410"/>
            </a:xfrm>
            <a:custGeom>
              <a:avLst/>
              <a:gdLst/>
              <a:ahLst/>
              <a:cxnLst/>
              <a:rect r="r" b="b" t="t" l="l"/>
              <a:pathLst>
                <a:path h="938410" w="1309805">
                  <a:moveTo>
                    <a:pt x="0" y="0"/>
                  </a:moveTo>
                  <a:lnTo>
                    <a:pt x="1309805" y="0"/>
                  </a:lnTo>
                  <a:lnTo>
                    <a:pt x="1309805" y="938410"/>
                  </a:lnTo>
                  <a:lnTo>
                    <a:pt x="0" y="938410"/>
                  </a:lnTo>
                  <a:close/>
                </a:path>
              </a:pathLst>
            </a:custGeom>
            <a:solidFill>
              <a:srgbClr val="FFFFFF"/>
            </a:solidFill>
            <a:ln w="38100" cap="sq">
              <a:solidFill>
                <a:srgbClr val="F70000"/>
              </a:solidFill>
              <a:prstDash val="solid"/>
              <a:miter/>
            </a:ln>
          </p:spPr>
        </p:sp>
        <p:sp>
          <p:nvSpPr>
            <p:cNvPr name="TextBox 5" id="5"/>
            <p:cNvSpPr txBox="true"/>
            <p:nvPr/>
          </p:nvSpPr>
          <p:spPr>
            <a:xfrm>
              <a:off x="0" y="-38100"/>
              <a:ext cx="1309805" cy="97651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04618" y="1262123"/>
            <a:ext cx="5060271" cy="3137731"/>
          </a:xfrm>
          <a:custGeom>
            <a:avLst/>
            <a:gdLst/>
            <a:ahLst/>
            <a:cxnLst/>
            <a:rect r="r" b="b" t="t" l="l"/>
            <a:pathLst>
              <a:path h="3137731" w="5060271">
                <a:moveTo>
                  <a:pt x="0" y="0"/>
                </a:moveTo>
                <a:lnTo>
                  <a:pt x="5060270" y="0"/>
                </a:lnTo>
                <a:lnTo>
                  <a:pt x="5060270" y="3137731"/>
                </a:lnTo>
                <a:lnTo>
                  <a:pt x="0" y="3137731"/>
                </a:lnTo>
                <a:lnTo>
                  <a:pt x="0" y="0"/>
                </a:lnTo>
                <a:close/>
              </a:path>
            </a:pathLst>
          </a:custGeom>
          <a:blipFill>
            <a:blip r:embed="rId3"/>
            <a:stretch>
              <a:fillRect l="-70139" t="-82330" r="-73010" b="-38243"/>
            </a:stretch>
          </a:blipFill>
        </p:spPr>
      </p:sp>
      <p:sp>
        <p:nvSpPr>
          <p:cNvPr name="AutoShape 7" id="7"/>
          <p:cNvSpPr/>
          <p:nvPr/>
        </p:nvSpPr>
        <p:spPr>
          <a:xfrm>
            <a:off x="7542850" y="2725809"/>
            <a:ext cx="4623994" cy="0"/>
          </a:xfrm>
          <a:prstGeom prst="line">
            <a:avLst/>
          </a:prstGeom>
          <a:ln cap="flat" w="38100">
            <a:solidFill>
              <a:srgbClr val="F70000"/>
            </a:solidFill>
            <a:prstDash val="solid"/>
            <a:headEnd type="none" len="sm" w="sm"/>
            <a:tailEnd type="arrow" len="sm" w="med"/>
          </a:ln>
        </p:spPr>
      </p:sp>
      <p:sp>
        <p:nvSpPr>
          <p:cNvPr name="TextBox 8" id="8"/>
          <p:cNvSpPr txBox="true"/>
          <p:nvPr/>
        </p:nvSpPr>
        <p:spPr>
          <a:xfrm rot="0">
            <a:off x="1182234" y="923925"/>
            <a:ext cx="2084517" cy="996809"/>
          </a:xfrm>
          <a:prstGeom prst="rect">
            <a:avLst/>
          </a:prstGeom>
        </p:spPr>
        <p:txBody>
          <a:bodyPr anchor="t" rtlCol="false" tIns="0" lIns="0" bIns="0" rIns="0">
            <a:spAutoFit/>
          </a:bodyPr>
          <a:lstStyle/>
          <a:p>
            <a:pPr algn="ctr">
              <a:lnSpc>
                <a:spcPts val="8280"/>
              </a:lnSpc>
              <a:spcBef>
                <a:spcPct val="0"/>
              </a:spcBef>
            </a:pPr>
            <a:r>
              <a:rPr lang="en-US" b="true" sz="5914">
                <a:solidFill>
                  <a:srgbClr val="000000"/>
                </a:solidFill>
                <a:latin typeface="Open Sauce Bold"/>
                <a:ea typeface="Open Sauce Bold"/>
                <a:cs typeface="Open Sauce Bold"/>
                <a:sym typeface="Open Sauce Bold"/>
              </a:rPr>
              <a:t>Swap</a:t>
            </a:r>
          </a:p>
        </p:txBody>
      </p:sp>
      <p:sp>
        <p:nvSpPr>
          <p:cNvPr name="TextBox 9" id="9"/>
          <p:cNvSpPr txBox="true"/>
          <p:nvPr/>
        </p:nvSpPr>
        <p:spPr>
          <a:xfrm rot="0">
            <a:off x="9940048" y="9015001"/>
            <a:ext cx="7134225"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Swap Shift functionality</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22688" y="0"/>
            <a:ext cx="6465481" cy="10287000"/>
          </a:xfrm>
          <a:custGeom>
            <a:avLst/>
            <a:gdLst/>
            <a:ahLst/>
            <a:cxnLst/>
            <a:rect r="r" b="b" t="t" l="l"/>
            <a:pathLst>
              <a:path h="10287000" w="6465481">
                <a:moveTo>
                  <a:pt x="0" y="0"/>
                </a:moveTo>
                <a:lnTo>
                  <a:pt x="6465480" y="0"/>
                </a:lnTo>
                <a:lnTo>
                  <a:pt x="6465480" y="10287000"/>
                </a:lnTo>
                <a:lnTo>
                  <a:pt x="0" y="10287000"/>
                </a:lnTo>
                <a:lnTo>
                  <a:pt x="0" y="0"/>
                </a:lnTo>
                <a:close/>
              </a:path>
            </a:pathLst>
          </a:custGeom>
          <a:blipFill>
            <a:blip r:embed="rId2"/>
            <a:stretch>
              <a:fillRect l="-3574" t="-1347" r="-3216" b="-4143"/>
            </a:stretch>
          </a:blipFill>
        </p:spPr>
      </p:sp>
      <p:grpSp>
        <p:nvGrpSpPr>
          <p:cNvPr name="Group 3" id="3"/>
          <p:cNvGrpSpPr/>
          <p:nvPr/>
        </p:nvGrpSpPr>
        <p:grpSpPr>
          <a:xfrm rot="0">
            <a:off x="13576611" y="3360004"/>
            <a:ext cx="3803212" cy="3563026"/>
            <a:chOff x="0" y="0"/>
            <a:chExt cx="1001669" cy="938410"/>
          </a:xfrm>
        </p:grpSpPr>
        <p:sp>
          <p:nvSpPr>
            <p:cNvPr name="Freeform 4" id="4"/>
            <p:cNvSpPr/>
            <p:nvPr/>
          </p:nvSpPr>
          <p:spPr>
            <a:xfrm flipH="false" flipV="false" rot="0">
              <a:off x="0" y="0"/>
              <a:ext cx="1001669" cy="938410"/>
            </a:xfrm>
            <a:custGeom>
              <a:avLst/>
              <a:gdLst/>
              <a:ahLst/>
              <a:cxnLst/>
              <a:rect r="r" b="b" t="t" l="l"/>
              <a:pathLst>
                <a:path h="938410" w="1001669">
                  <a:moveTo>
                    <a:pt x="0" y="0"/>
                  </a:moveTo>
                  <a:lnTo>
                    <a:pt x="1001669" y="0"/>
                  </a:lnTo>
                  <a:lnTo>
                    <a:pt x="1001669" y="938410"/>
                  </a:lnTo>
                  <a:lnTo>
                    <a:pt x="0" y="938410"/>
                  </a:lnTo>
                  <a:close/>
                </a:path>
              </a:pathLst>
            </a:custGeom>
            <a:solidFill>
              <a:srgbClr val="FFFFFF"/>
            </a:solidFill>
            <a:ln w="38100" cap="sq">
              <a:solidFill>
                <a:srgbClr val="F70000"/>
              </a:solidFill>
              <a:prstDash val="solid"/>
              <a:miter/>
            </a:ln>
          </p:spPr>
        </p:sp>
        <p:sp>
          <p:nvSpPr>
            <p:cNvPr name="TextBox 5" id="5"/>
            <p:cNvSpPr txBox="true"/>
            <p:nvPr/>
          </p:nvSpPr>
          <p:spPr>
            <a:xfrm>
              <a:off x="0" y="-38100"/>
              <a:ext cx="1001669" cy="97651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832605" y="3486651"/>
            <a:ext cx="3319572" cy="3309733"/>
          </a:xfrm>
          <a:custGeom>
            <a:avLst/>
            <a:gdLst/>
            <a:ahLst/>
            <a:cxnLst/>
            <a:rect r="r" b="b" t="t" l="l"/>
            <a:pathLst>
              <a:path h="3309733" w="3319572">
                <a:moveTo>
                  <a:pt x="0" y="0"/>
                </a:moveTo>
                <a:lnTo>
                  <a:pt x="3319572" y="0"/>
                </a:lnTo>
                <a:lnTo>
                  <a:pt x="3319572" y="3309733"/>
                </a:lnTo>
                <a:lnTo>
                  <a:pt x="0" y="3309733"/>
                </a:lnTo>
                <a:lnTo>
                  <a:pt x="0" y="0"/>
                </a:lnTo>
                <a:close/>
              </a:path>
            </a:pathLst>
          </a:custGeom>
          <a:blipFill>
            <a:blip r:embed="rId3"/>
            <a:stretch>
              <a:fillRect l="-5550" t="0" r="-7685" b="0"/>
            </a:stretch>
          </a:blipFill>
        </p:spPr>
      </p:sp>
      <p:sp>
        <p:nvSpPr>
          <p:cNvPr name="TextBox 7" id="7"/>
          <p:cNvSpPr txBox="true"/>
          <p:nvPr/>
        </p:nvSpPr>
        <p:spPr>
          <a:xfrm rot="0">
            <a:off x="1028700" y="933450"/>
            <a:ext cx="4016076" cy="878415"/>
          </a:xfrm>
          <a:prstGeom prst="rect">
            <a:avLst/>
          </a:prstGeom>
        </p:spPr>
        <p:txBody>
          <a:bodyPr anchor="t" rtlCol="false" tIns="0" lIns="0" bIns="0" rIns="0">
            <a:spAutoFit/>
          </a:bodyPr>
          <a:lstStyle/>
          <a:p>
            <a:pPr algn="ctr">
              <a:lnSpc>
                <a:spcPts val="7269"/>
              </a:lnSpc>
              <a:spcBef>
                <a:spcPct val="0"/>
              </a:spcBef>
            </a:pPr>
            <a:r>
              <a:rPr lang="en-US" b="true" sz="5192">
                <a:solidFill>
                  <a:srgbClr val="000000"/>
                </a:solidFill>
                <a:latin typeface="Open Sauce Bold"/>
                <a:ea typeface="Open Sauce Bold"/>
                <a:cs typeface="Open Sauce Bold"/>
                <a:sym typeface="Open Sauce Bold"/>
              </a:rPr>
              <a:t>View Report</a:t>
            </a:r>
          </a:p>
        </p:txBody>
      </p:sp>
      <p:sp>
        <p:nvSpPr>
          <p:cNvPr name="AutoShape 8" id="8"/>
          <p:cNvSpPr/>
          <p:nvPr/>
        </p:nvSpPr>
        <p:spPr>
          <a:xfrm flipV="true">
            <a:off x="8872433" y="6796384"/>
            <a:ext cx="4631471" cy="0"/>
          </a:xfrm>
          <a:prstGeom prst="line">
            <a:avLst/>
          </a:prstGeom>
          <a:ln cap="flat" w="38100">
            <a:solidFill>
              <a:srgbClr val="F70000"/>
            </a:solidFill>
            <a:prstDash val="solid"/>
            <a:headEnd type="none" len="sm" w="sm"/>
            <a:tailEnd type="arrow" len="sm" w="med"/>
          </a:ln>
        </p:spPr>
      </p:sp>
      <p:sp>
        <p:nvSpPr>
          <p:cNvPr name="TextBox 9" id="9"/>
          <p:cNvSpPr txBox="true"/>
          <p:nvPr/>
        </p:nvSpPr>
        <p:spPr>
          <a:xfrm rot="0">
            <a:off x="10132142" y="9015001"/>
            <a:ext cx="7400925"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View Report functionality</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15799" y="-153359"/>
            <a:ext cx="7287517" cy="11638760"/>
          </a:xfrm>
          <a:custGeom>
            <a:avLst/>
            <a:gdLst/>
            <a:ahLst/>
            <a:cxnLst/>
            <a:rect r="r" b="b" t="t" l="l"/>
            <a:pathLst>
              <a:path h="11638760" w="7287517">
                <a:moveTo>
                  <a:pt x="0" y="0"/>
                </a:moveTo>
                <a:lnTo>
                  <a:pt x="7287517" y="0"/>
                </a:lnTo>
                <a:lnTo>
                  <a:pt x="7287517" y="11638760"/>
                </a:lnTo>
                <a:lnTo>
                  <a:pt x="0" y="11638760"/>
                </a:lnTo>
                <a:lnTo>
                  <a:pt x="0" y="0"/>
                </a:lnTo>
                <a:close/>
              </a:path>
            </a:pathLst>
          </a:custGeom>
          <a:blipFill>
            <a:blip r:embed="rId2"/>
            <a:stretch>
              <a:fillRect l="-2855" t="-1072" r="-2570" b="-1072"/>
            </a:stretch>
          </a:blipFill>
        </p:spPr>
      </p:sp>
      <p:sp>
        <p:nvSpPr>
          <p:cNvPr name="Freeform 3" id="3"/>
          <p:cNvSpPr/>
          <p:nvPr/>
        </p:nvSpPr>
        <p:spPr>
          <a:xfrm flipH="false" flipV="false" rot="0">
            <a:off x="10239476" y="3666168"/>
            <a:ext cx="7714449" cy="3578334"/>
          </a:xfrm>
          <a:custGeom>
            <a:avLst/>
            <a:gdLst/>
            <a:ahLst/>
            <a:cxnLst/>
            <a:rect r="r" b="b" t="t" l="l"/>
            <a:pathLst>
              <a:path h="3578334" w="7714449">
                <a:moveTo>
                  <a:pt x="0" y="0"/>
                </a:moveTo>
                <a:lnTo>
                  <a:pt x="7714449" y="0"/>
                </a:lnTo>
                <a:lnTo>
                  <a:pt x="7714449" y="3578334"/>
                </a:lnTo>
                <a:lnTo>
                  <a:pt x="0" y="3578334"/>
                </a:lnTo>
                <a:lnTo>
                  <a:pt x="0" y="0"/>
                </a:lnTo>
                <a:close/>
              </a:path>
            </a:pathLst>
          </a:custGeom>
          <a:blipFill>
            <a:blip r:embed="rId3"/>
            <a:stretch>
              <a:fillRect l="-252" t="0" r="-21759" b="0"/>
            </a:stretch>
          </a:blipFill>
        </p:spPr>
      </p:sp>
      <p:grpSp>
        <p:nvGrpSpPr>
          <p:cNvPr name="Group 4" id="4"/>
          <p:cNvGrpSpPr/>
          <p:nvPr/>
        </p:nvGrpSpPr>
        <p:grpSpPr>
          <a:xfrm rot="0">
            <a:off x="10239476" y="3666168"/>
            <a:ext cx="7714449" cy="3578334"/>
            <a:chOff x="0" y="0"/>
            <a:chExt cx="2031789" cy="942442"/>
          </a:xfrm>
        </p:grpSpPr>
        <p:sp>
          <p:nvSpPr>
            <p:cNvPr name="Freeform 5" id="5"/>
            <p:cNvSpPr/>
            <p:nvPr/>
          </p:nvSpPr>
          <p:spPr>
            <a:xfrm flipH="false" flipV="false" rot="0">
              <a:off x="0" y="0"/>
              <a:ext cx="2031789" cy="942442"/>
            </a:xfrm>
            <a:custGeom>
              <a:avLst/>
              <a:gdLst/>
              <a:ahLst/>
              <a:cxnLst/>
              <a:rect r="r" b="b" t="t" l="l"/>
              <a:pathLst>
                <a:path h="942442" w="2031789">
                  <a:moveTo>
                    <a:pt x="0" y="0"/>
                  </a:moveTo>
                  <a:lnTo>
                    <a:pt x="2031789" y="0"/>
                  </a:lnTo>
                  <a:lnTo>
                    <a:pt x="2031789" y="942442"/>
                  </a:lnTo>
                  <a:lnTo>
                    <a:pt x="0" y="942442"/>
                  </a:lnTo>
                  <a:close/>
                </a:path>
              </a:pathLst>
            </a:custGeom>
            <a:solidFill>
              <a:srgbClr val="000000">
                <a:alpha val="0"/>
              </a:srgbClr>
            </a:solidFill>
            <a:ln w="38100" cap="sq">
              <a:solidFill>
                <a:srgbClr val="F70000"/>
              </a:solidFill>
              <a:prstDash val="solid"/>
              <a:miter/>
            </a:ln>
          </p:spPr>
        </p:sp>
        <p:sp>
          <p:nvSpPr>
            <p:cNvPr name="TextBox 6" id="6"/>
            <p:cNvSpPr txBox="true"/>
            <p:nvPr/>
          </p:nvSpPr>
          <p:spPr>
            <a:xfrm>
              <a:off x="0" y="-38100"/>
              <a:ext cx="2031789" cy="980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28700" y="933450"/>
            <a:ext cx="3790915" cy="912051"/>
          </a:xfrm>
          <a:prstGeom prst="rect">
            <a:avLst/>
          </a:prstGeom>
        </p:spPr>
        <p:txBody>
          <a:bodyPr anchor="t" rtlCol="false" tIns="0" lIns="0" bIns="0" rIns="0">
            <a:spAutoFit/>
          </a:bodyPr>
          <a:lstStyle/>
          <a:p>
            <a:pPr algn="ctr">
              <a:lnSpc>
                <a:spcPts val="7581"/>
              </a:lnSpc>
              <a:spcBef>
                <a:spcPct val="0"/>
              </a:spcBef>
            </a:pPr>
            <a:r>
              <a:rPr lang="en-US" b="true" sz="5415">
                <a:solidFill>
                  <a:srgbClr val="000000"/>
                </a:solidFill>
                <a:latin typeface="Open Sauce Bold"/>
                <a:ea typeface="Open Sauce Bold"/>
                <a:cs typeface="Open Sauce Bold"/>
                <a:sym typeface="Open Sauce Bold"/>
              </a:rPr>
              <a:t>Send Email</a:t>
            </a:r>
          </a:p>
        </p:txBody>
      </p:sp>
      <p:sp>
        <p:nvSpPr>
          <p:cNvPr name="TextBox 8" id="8"/>
          <p:cNvSpPr txBox="true"/>
          <p:nvPr/>
        </p:nvSpPr>
        <p:spPr>
          <a:xfrm rot="0">
            <a:off x="9494518" y="9015001"/>
            <a:ext cx="7219950"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Send Email functionality</a:t>
            </a:r>
          </a:p>
        </p:txBody>
      </p:sp>
      <p:sp>
        <p:nvSpPr>
          <p:cNvPr name="AutoShape 9" id="9"/>
          <p:cNvSpPr/>
          <p:nvPr/>
        </p:nvSpPr>
        <p:spPr>
          <a:xfrm flipV="true">
            <a:off x="7858196" y="5105401"/>
            <a:ext cx="2178115" cy="19050"/>
          </a:xfrm>
          <a:prstGeom prst="line">
            <a:avLst/>
          </a:prstGeom>
          <a:ln cap="flat" w="38100">
            <a:solidFill>
              <a:srgbClr val="F70000"/>
            </a:solidFill>
            <a:prstDash val="solid"/>
            <a:headEnd type="none" len="sm" w="sm"/>
            <a:tailEnd type="arrow" len="sm" w="med"/>
          </a:ln>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39218" y="1399964"/>
            <a:ext cx="4562262" cy="8887036"/>
          </a:xfrm>
          <a:custGeom>
            <a:avLst/>
            <a:gdLst/>
            <a:ahLst/>
            <a:cxnLst/>
            <a:rect r="r" b="b" t="t" l="l"/>
            <a:pathLst>
              <a:path h="8887036" w="4562262">
                <a:moveTo>
                  <a:pt x="0" y="0"/>
                </a:moveTo>
                <a:lnTo>
                  <a:pt x="4562262" y="0"/>
                </a:lnTo>
                <a:lnTo>
                  <a:pt x="4562262" y="8887036"/>
                </a:lnTo>
                <a:lnTo>
                  <a:pt x="0" y="8887036"/>
                </a:lnTo>
                <a:lnTo>
                  <a:pt x="0" y="0"/>
                </a:lnTo>
                <a:close/>
              </a:path>
            </a:pathLst>
          </a:custGeom>
          <a:blipFill>
            <a:blip r:embed="rId2"/>
            <a:stretch>
              <a:fillRect l="0" t="0" r="0" b="0"/>
            </a:stretch>
          </a:blipFill>
        </p:spPr>
      </p:sp>
      <p:sp>
        <p:nvSpPr>
          <p:cNvPr name="TextBox 3" id="3"/>
          <p:cNvSpPr txBox="true"/>
          <p:nvPr/>
        </p:nvSpPr>
        <p:spPr>
          <a:xfrm rot="0">
            <a:off x="814900" y="562186"/>
            <a:ext cx="5105400" cy="837779"/>
          </a:xfrm>
          <a:prstGeom prst="rect">
            <a:avLst/>
          </a:prstGeom>
        </p:spPr>
        <p:txBody>
          <a:bodyPr anchor="t" rtlCol="false" tIns="0" lIns="0" bIns="0" rIns="0">
            <a:spAutoFit/>
          </a:bodyPr>
          <a:lstStyle/>
          <a:p>
            <a:pPr algn="ctr">
              <a:lnSpc>
                <a:spcPts val="6848"/>
              </a:lnSpc>
              <a:spcBef>
                <a:spcPct val="0"/>
              </a:spcBef>
            </a:pPr>
            <a:r>
              <a:rPr lang="en-US" b="true" sz="4891">
                <a:solidFill>
                  <a:srgbClr val="000000"/>
                </a:solidFill>
                <a:latin typeface="Open Sauce Bold"/>
                <a:ea typeface="Open Sauce Bold"/>
                <a:cs typeface="Open Sauce Bold"/>
                <a:sym typeface="Open Sauce Bold"/>
              </a:rPr>
              <a:t>ADD EMPLOYEE </a:t>
            </a:r>
          </a:p>
        </p:txBody>
      </p:sp>
      <p:sp>
        <p:nvSpPr>
          <p:cNvPr name="TextBox 4" id="4"/>
          <p:cNvSpPr txBox="true"/>
          <p:nvPr/>
        </p:nvSpPr>
        <p:spPr>
          <a:xfrm rot="0">
            <a:off x="15368941" y="237914"/>
            <a:ext cx="661417" cy="1162050"/>
          </a:xfrm>
          <a:prstGeom prst="rect">
            <a:avLst/>
          </a:prstGeom>
        </p:spPr>
        <p:txBody>
          <a:bodyPr anchor="t" rtlCol="false" tIns="0" lIns="0" bIns="0" rIns="0">
            <a:spAutoFit/>
          </a:bodyPr>
          <a:lstStyle/>
          <a:p>
            <a:pPr algn="ctr">
              <a:lnSpc>
                <a:spcPts val="9505"/>
              </a:lnSpc>
              <a:spcBef>
                <a:spcPct val="0"/>
              </a:spcBef>
            </a:pPr>
            <a:r>
              <a:rPr lang="en-US" b="true" sz="6789">
                <a:solidFill>
                  <a:srgbClr val="F70000"/>
                </a:solidFill>
                <a:latin typeface="Open Sauce Bold"/>
                <a:ea typeface="Open Sauce Bold"/>
                <a:cs typeface="Open Sauce Bold"/>
                <a:sym typeface="Open Sauce Bold"/>
              </a:rPr>
              <a:t>C</a:t>
            </a:r>
          </a:p>
        </p:txBody>
      </p:sp>
      <p:sp>
        <p:nvSpPr>
          <p:cNvPr name="TextBox 5" id="5"/>
          <p:cNvSpPr txBox="true"/>
          <p:nvPr/>
        </p:nvSpPr>
        <p:spPr>
          <a:xfrm rot="0">
            <a:off x="16156948" y="515068"/>
            <a:ext cx="1301909" cy="664892"/>
          </a:xfrm>
          <a:prstGeom prst="rect">
            <a:avLst/>
          </a:prstGeom>
        </p:spPr>
        <p:txBody>
          <a:bodyPr anchor="t" rtlCol="false" tIns="0" lIns="0" bIns="0" rIns="0">
            <a:spAutoFit/>
          </a:bodyPr>
          <a:lstStyle/>
          <a:p>
            <a:pPr algn="ctr">
              <a:lnSpc>
                <a:spcPts val="5425"/>
              </a:lnSpc>
              <a:spcBef>
                <a:spcPct val="0"/>
              </a:spcBef>
            </a:pPr>
            <a:r>
              <a:rPr lang="en-US" b="true" sz="3875">
                <a:solidFill>
                  <a:srgbClr val="000000"/>
                </a:solidFill>
                <a:latin typeface="Open Sauce Bold"/>
                <a:ea typeface="Open Sauce Bold"/>
                <a:cs typeface="Open Sauce Bold"/>
                <a:sym typeface="Open Sauce Bold"/>
              </a:rPr>
              <a:t>reate</a:t>
            </a:r>
          </a:p>
        </p:txBody>
      </p:sp>
      <p:grpSp>
        <p:nvGrpSpPr>
          <p:cNvPr name="Group 6" id="6"/>
          <p:cNvGrpSpPr/>
          <p:nvPr/>
        </p:nvGrpSpPr>
        <p:grpSpPr>
          <a:xfrm rot="0">
            <a:off x="8067956" y="1771229"/>
            <a:ext cx="9390901" cy="3428922"/>
            <a:chOff x="0" y="0"/>
            <a:chExt cx="2570055" cy="938410"/>
          </a:xfrm>
        </p:grpSpPr>
        <p:sp>
          <p:nvSpPr>
            <p:cNvPr name="Freeform 7" id="7"/>
            <p:cNvSpPr/>
            <p:nvPr/>
          </p:nvSpPr>
          <p:spPr>
            <a:xfrm flipH="false" flipV="false" rot="0">
              <a:off x="0" y="0"/>
              <a:ext cx="2570055" cy="938410"/>
            </a:xfrm>
            <a:custGeom>
              <a:avLst/>
              <a:gdLst/>
              <a:ahLst/>
              <a:cxnLst/>
              <a:rect r="r" b="b" t="t" l="l"/>
              <a:pathLst>
                <a:path h="938410" w="2570055">
                  <a:moveTo>
                    <a:pt x="0" y="0"/>
                  </a:moveTo>
                  <a:lnTo>
                    <a:pt x="2570055" y="0"/>
                  </a:lnTo>
                  <a:lnTo>
                    <a:pt x="2570055" y="938410"/>
                  </a:lnTo>
                  <a:lnTo>
                    <a:pt x="0" y="938410"/>
                  </a:lnTo>
                  <a:close/>
                </a:path>
              </a:pathLst>
            </a:custGeom>
            <a:solidFill>
              <a:srgbClr val="FFFFFF"/>
            </a:solidFill>
            <a:ln w="38100" cap="sq">
              <a:solidFill>
                <a:srgbClr val="F70000"/>
              </a:solidFill>
              <a:prstDash val="solid"/>
              <a:miter/>
            </a:ln>
          </p:spPr>
        </p:sp>
        <p:sp>
          <p:nvSpPr>
            <p:cNvPr name="TextBox 8" id="8"/>
            <p:cNvSpPr txBox="true"/>
            <p:nvPr/>
          </p:nvSpPr>
          <p:spPr>
            <a:xfrm>
              <a:off x="0" y="-38100"/>
              <a:ext cx="2570055" cy="97651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8149801" y="2177291"/>
            <a:ext cx="9216602" cy="2705672"/>
          </a:xfrm>
          <a:custGeom>
            <a:avLst/>
            <a:gdLst/>
            <a:ahLst/>
            <a:cxnLst/>
            <a:rect r="r" b="b" t="t" l="l"/>
            <a:pathLst>
              <a:path h="2705672" w="9216602">
                <a:moveTo>
                  <a:pt x="0" y="0"/>
                </a:moveTo>
                <a:lnTo>
                  <a:pt x="9216602" y="0"/>
                </a:lnTo>
                <a:lnTo>
                  <a:pt x="9216602" y="2705672"/>
                </a:lnTo>
                <a:lnTo>
                  <a:pt x="0" y="2705672"/>
                </a:lnTo>
                <a:lnTo>
                  <a:pt x="0" y="0"/>
                </a:lnTo>
                <a:close/>
              </a:path>
            </a:pathLst>
          </a:custGeom>
          <a:blipFill>
            <a:blip r:embed="rId3"/>
            <a:stretch>
              <a:fillRect l="-888" t="0" r="-2072" b="-3024"/>
            </a:stretch>
          </a:blipFill>
        </p:spPr>
      </p:sp>
      <p:sp>
        <p:nvSpPr>
          <p:cNvPr name="AutoShape 10" id="10"/>
          <p:cNvSpPr/>
          <p:nvPr/>
        </p:nvSpPr>
        <p:spPr>
          <a:xfrm>
            <a:off x="6202749" y="2196341"/>
            <a:ext cx="1865207" cy="0"/>
          </a:xfrm>
          <a:prstGeom prst="line">
            <a:avLst/>
          </a:prstGeom>
          <a:ln cap="flat" w="38100">
            <a:solidFill>
              <a:srgbClr val="F70000"/>
            </a:solidFill>
            <a:prstDash val="solid"/>
            <a:headEnd type="none" len="sm" w="sm"/>
            <a:tailEnd type="arrow" len="sm" w="med"/>
          </a:ln>
        </p:spPr>
      </p:sp>
      <p:sp>
        <p:nvSpPr>
          <p:cNvPr name="TextBox 11" id="11"/>
          <p:cNvSpPr txBox="true"/>
          <p:nvPr/>
        </p:nvSpPr>
        <p:spPr>
          <a:xfrm rot="0">
            <a:off x="7912691" y="9015001"/>
            <a:ext cx="7791450"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Add Employee functionality</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11656" y="1399964"/>
            <a:ext cx="5737719" cy="8976085"/>
          </a:xfrm>
          <a:custGeom>
            <a:avLst/>
            <a:gdLst/>
            <a:ahLst/>
            <a:cxnLst/>
            <a:rect r="r" b="b" t="t" l="l"/>
            <a:pathLst>
              <a:path h="8976085" w="5737719">
                <a:moveTo>
                  <a:pt x="0" y="0"/>
                </a:moveTo>
                <a:lnTo>
                  <a:pt x="5737719" y="0"/>
                </a:lnTo>
                <a:lnTo>
                  <a:pt x="5737719" y="8976085"/>
                </a:lnTo>
                <a:lnTo>
                  <a:pt x="0" y="8976085"/>
                </a:lnTo>
                <a:lnTo>
                  <a:pt x="0" y="0"/>
                </a:lnTo>
                <a:close/>
              </a:path>
            </a:pathLst>
          </a:custGeom>
          <a:blipFill>
            <a:blip r:embed="rId2"/>
            <a:stretch>
              <a:fillRect l="0" t="0" r="0" b="0"/>
            </a:stretch>
          </a:blipFill>
        </p:spPr>
      </p:sp>
      <p:grpSp>
        <p:nvGrpSpPr>
          <p:cNvPr name="Group 3" id="3"/>
          <p:cNvGrpSpPr/>
          <p:nvPr/>
        </p:nvGrpSpPr>
        <p:grpSpPr>
          <a:xfrm rot="0">
            <a:off x="9272355" y="5494683"/>
            <a:ext cx="6304458" cy="2684628"/>
            <a:chOff x="0" y="0"/>
            <a:chExt cx="1660433" cy="707062"/>
          </a:xfrm>
        </p:grpSpPr>
        <p:sp>
          <p:nvSpPr>
            <p:cNvPr name="Freeform 4" id="4"/>
            <p:cNvSpPr/>
            <p:nvPr/>
          </p:nvSpPr>
          <p:spPr>
            <a:xfrm flipH="false" flipV="false" rot="0">
              <a:off x="0" y="0"/>
              <a:ext cx="1660433" cy="707063"/>
            </a:xfrm>
            <a:custGeom>
              <a:avLst/>
              <a:gdLst/>
              <a:ahLst/>
              <a:cxnLst/>
              <a:rect r="r" b="b" t="t" l="l"/>
              <a:pathLst>
                <a:path h="707063" w="1660433">
                  <a:moveTo>
                    <a:pt x="0" y="0"/>
                  </a:moveTo>
                  <a:lnTo>
                    <a:pt x="1660433" y="0"/>
                  </a:lnTo>
                  <a:lnTo>
                    <a:pt x="1660433" y="707063"/>
                  </a:lnTo>
                  <a:lnTo>
                    <a:pt x="0" y="707063"/>
                  </a:lnTo>
                  <a:close/>
                </a:path>
              </a:pathLst>
            </a:custGeom>
            <a:solidFill>
              <a:srgbClr val="FFFFFF"/>
            </a:solidFill>
            <a:ln w="38100" cap="sq">
              <a:solidFill>
                <a:srgbClr val="F70000"/>
              </a:solidFill>
              <a:prstDash val="solid"/>
              <a:miter/>
            </a:ln>
          </p:spPr>
        </p:sp>
        <p:sp>
          <p:nvSpPr>
            <p:cNvPr name="TextBox 5" id="5"/>
            <p:cNvSpPr txBox="true"/>
            <p:nvPr/>
          </p:nvSpPr>
          <p:spPr>
            <a:xfrm>
              <a:off x="0" y="-38100"/>
              <a:ext cx="1660433" cy="74516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389311" y="5619409"/>
            <a:ext cx="6102277" cy="2447905"/>
          </a:xfrm>
          <a:custGeom>
            <a:avLst/>
            <a:gdLst/>
            <a:ahLst/>
            <a:cxnLst/>
            <a:rect r="r" b="b" t="t" l="l"/>
            <a:pathLst>
              <a:path h="2447905" w="6102277">
                <a:moveTo>
                  <a:pt x="0" y="0"/>
                </a:moveTo>
                <a:lnTo>
                  <a:pt x="6102277" y="0"/>
                </a:lnTo>
                <a:lnTo>
                  <a:pt x="6102277" y="2447904"/>
                </a:lnTo>
                <a:lnTo>
                  <a:pt x="0" y="2447904"/>
                </a:lnTo>
                <a:lnTo>
                  <a:pt x="0" y="0"/>
                </a:lnTo>
                <a:close/>
              </a:path>
            </a:pathLst>
          </a:custGeom>
          <a:blipFill>
            <a:blip r:embed="rId3"/>
            <a:stretch>
              <a:fillRect l="0" t="0" r="0" b="0"/>
            </a:stretch>
          </a:blipFill>
        </p:spPr>
      </p:sp>
      <p:sp>
        <p:nvSpPr>
          <p:cNvPr name="TextBox 7" id="7"/>
          <p:cNvSpPr txBox="true"/>
          <p:nvPr/>
        </p:nvSpPr>
        <p:spPr>
          <a:xfrm rot="0">
            <a:off x="14811424" y="197195"/>
            <a:ext cx="594179" cy="1162050"/>
          </a:xfrm>
          <a:prstGeom prst="rect">
            <a:avLst/>
          </a:prstGeom>
        </p:spPr>
        <p:txBody>
          <a:bodyPr anchor="t" rtlCol="false" tIns="0" lIns="0" bIns="0" rIns="0">
            <a:spAutoFit/>
          </a:bodyPr>
          <a:lstStyle/>
          <a:p>
            <a:pPr algn="ctr">
              <a:lnSpc>
                <a:spcPts val="9505"/>
              </a:lnSpc>
              <a:spcBef>
                <a:spcPct val="0"/>
              </a:spcBef>
            </a:pPr>
            <a:r>
              <a:rPr lang="en-US" b="true" sz="6789">
                <a:solidFill>
                  <a:srgbClr val="F70000"/>
                </a:solidFill>
                <a:latin typeface="Open Sauce Bold"/>
                <a:ea typeface="Open Sauce Bold"/>
                <a:cs typeface="Open Sauce Bold"/>
                <a:sym typeface="Open Sauce Bold"/>
              </a:rPr>
              <a:t>R</a:t>
            </a:r>
          </a:p>
        </p:txBody>
      </p:sp>
      <p:sp>
        <p:nvSpPr>
          <p:cNvPr name="TextBox 8" id="8"/>
          <p:cNvSpPr txBox="true"/>
          <p:nvPr/>
        </p:nvSpPr>
        <p:spPr>
          <a:xfrm rot="0">
            <a:off x="15405602" y="474349"/>
            <a:ext cx="1853698" cy="664892"/>
          </a:xfrm>
          <a:prstGeom prst="rect">
            <a:avLst/>
          </a:prstGeom>
        </p:spPr>
        <p:txBody>
          <a:bodyPr anchor="t" rtlCol="false" tIns="0" lIns="0" bIns="0" rIns="0">
            <a:spAutoFit/>
          </a:bodyPr>
          <a:lstStyle/>
          <a:p>
            <a:pPr algn="ctr">
              <a:lnSpc>
                <a:spcPts val="5425"/>
              </a:lnSpc>
              <a:spcBef>
                <a:spcPct val="0"/>
              </a:spcBef>
            </a:pPr>
            <a:r>
              <a:rPr lang="en-US" b="true" sz="3875">
                <a:solidFill>
                  <a:srgbClr val="000000"/>
                </a:solidFill>
                <a:latin typeface="Open Sauce Bold"/>
                <a:ea typeface="Open Sauce Bold"/>
                <a:cs typeface="Open Sauce Bold"/>
                <a:sym typeface="Open Sauce Bold"/>
              </a:rPr>
              <a:t>etrieve </a:t>
            </a:r>
          </a:p>
        </p:txBody>
      </p:sp>
      <p:sp>
        <p:nvSpPr>
          <p:cNvPr name="TextBox 9" id="9"/>
          <p:cNvSpPr txBox="true"/>
          <p:nvPr/>
        </p:nvSpPr>
        <p:spPr>
          <a:xfrm rot="0">
            <a:off x="737319" y="562186"/>
            <a:ext cx="5284470" cy="837779"/>
          </a:xfrm>
          <a:prstGeom prst="rect">
            <a:avLst/>
          </a:prstGeom>
        </p:spPr>
        <p:txBody>
          <a:bodyPr anchor="t" rtlCol="false" tIns="0" lIns="0" bIns="0" rIns="0">
            <a:spAutoFit/>
          </a:bodyPr>
          <a:lstStyle/>
          <a:p>
            <a:pPr algn="ctr">
              <a:lnSpc>
                <a:spcPts val="6848"/>
              </a:lnSpc>
              <a:spcBef>
                <a:spcPct val="0"/>
              </a:spcBef>
            </a:pPr>
            <a:r>
              <a:rPr lang="en-US" b="true" sz="4891">
                <a:solidFill>
                  <a:srgbClr val="000000"/>
                </a:solidFill>
                <a:latin typeface="Open Sauce Bold"/>
                <a:ea typeface="Open Sauce Bold"/>
                <a:cs typeface="Open Sauce Bold"/>
                <a:sym typeface="Open Sauce Bold"/>
              </a:rPr>
              <a:t>VIEW EMPLOYEE</a:t>
            </a:r>
          </a:p>
        </p:txBody>
      </p:sp>
      <p:sp>
        <p:nvSpPr>
          <p:cNvPr name="AutoShape 10" id="10"/>
          <p:cNvSpPr/>
          <p:nvPr/>
        </p:nvSpPr>
        <p:spPr>
          <a:xfrm>
            <a:off x="4762903" y="7812512"/>
            <a:ext cx="4509451" cy="0"/>
          </a:xfrm>
          <a:prstGeom prst="line">
            <a:avLst/>
          </a:prstGeom>
          <a:ln cap="flat" w="38100">
            <a:solidFill>
              <a:srgbClr val="F70000"/>
            </a:solidFill>
            <a:prstDash val="solid"/>
            <a:headEnd type="none" len="sm" w="sm"/>
            <a:tailEnd type="arrow" len="sm" w="med"/>
          </a:ln>
        </p:spPr>
      </p:sp>
      <p:sp>
        <p:nvSpPr>
          <p:cNvPr name="TextBox 11" id="11"/>
          <p:cNvSpPr txBox="true"/>
          <p:nvPr/>
        </p:nvSpPr>
        <p:spPr>
          <a:xfrm rot="0">
            <a:off x="7186696" y="9104050"/>
            <a:ext cx="7924800"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View Employee functionality</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22760" y="1415404"/>
            <a:ext cx="4775597" cy="7847467"/>
          </a:xfrm>
          <a:custGeom>
            <a:avLst/>
            <a:gdLst/>
            <a:ahLst/>
            <a:cxnLst/>
            <a:rect r="r" b="b" t="t" l="l"/>
            <a:pathLst>
              <a:path h="7847467" w="4775597">
                <a:moveTo>
                  <a:pt x="0" y="0"/>
                </a:moveTo>
                <a:lnTo>
                  <a:pt x="4775597" y="0"/>
                </a:lnTo>
                <a:lnTo>
                  <a:pt x="4775597" y="7847468"/>
                </a:lnTo>
                <a:lnTo>
                  <a:pt x="0" y="7847468"/>
                </a:lnTo>
                <a:lnTo>
                  <a:pt x="0" y="0"/>
                </a:lnTo>
                <a:close/>
              </a:path>
            </a:pathLst>
          </a:custGeom>
          <a:blipFill>
            <a:blip r:embed="rId2"/>
            <a:stretch>
              <a:fillRect l="0" t="0" r="0" b="0"/>
            </a:stretch>
          </a:blipFill>
        </p:spPr>
      </p:sp>
      <p:sp>
        <p:nvSpPr>
          <p:cNvPr name="Freeform 3" id="3"/>
          <p:cNvSpPr/>
          <p:nvPr/>
        </p:nvSpPr>
        <p:spPr>
          <a:xfrm flipH="false" flipV="false" rot="0">
            <a:off x="11204055" y="1484432"/>
            <a:ext cx="4177641" cy="7597863"/>
          </a:xfrm>
          <a:custGeom>
            <a:avLst/>
            <a:gdLst/>
            <a:ahLst/>
            <a:cxnLst/>
            <a:rect r="r" b="b" t="t" l="l"/>
            <a:pathLst>
              <a:path h="7597863" w="4177641">
                <a:moveTo>
                  <a:pt x="0" y="0"/>
                </a:moveTo>
                <a:lnTo>
                  <a:pt x="4177642" y="0"/>
                </a:lnTo>
                <a:lnTo>
                  <a:pt x="4177642" y="7597863"/>
                </a:lnTo>
                <a:lnTo>
                  <a:pt x="0" y="7597863"/>
                </a:lnTo>
                <a:lnTo>
                  <a:pt x="0" y="0"/>
                </a:lnTo>
                <a:close/>
              </a:path>
            </a:pathLst>
          </a:custGeom>
          <a:blipFill>
            <a:blip r:embed="rId3"/>
            <a:stretch>
              <a:fillRect l="0" t="0" r="0" b="0"/>
            </a:stretch>
          </a:blipFill>
        </p:spPr>
      </p:sp>
      <p:sp>
        <p:nvSpPr>
          <p:cNvPr name="TextBox 4" id="4"/>
          <p:cNvSpPr txBox="true"/>
          <p:nvPr/>
        </p:nvSpPr>
        <p:spPr>
          <a:xfrm rot="0">
            <a:off x="4089655" y="215286"/>
            <a:ext cx="641353" cy="1161892"/>
          </a:xfrm>
          <a:prstGeom prst="rect">
            <a:avLst/>
          </a:prstGeom>
        </p:spPr>
        <p:txBody>
          <a:bodyPr anchor="t" rtlCol="false" tIns="0" lIns="0" bIns="0" rIns="0">
            <a:spAutoFit/>
          </a:bodyPr>
          <a:lstStyle/>
          <a:p>
            <a:pPr algn="ctr">
              <a:lnSpc>
                <a:spcPts val="9591"/>
              </a:lnSpc>
              <a:spcBef>
                <a:spcPct val="0"/>
              </a:spcBef>
            </a:pPr>
            <a:r>
              <a:rPr lang="en-US" b="true" sz="6851">
                <a:solidFill>
                  <a:srgbClr val="F70000"/>
                </a:solidFill>
                <a:latin typeface="Open Sauce Bold"/>
                <a:ea typeface="Open Sauce Bold"/>
                <a:cs typeface="Open Sauce Bold"/>
                <a:sym typeface="Open Sauce Bold"/>
              </a:rPr>
              <a:t>U</a:t>
            </a:r>
          </a:p>
        </p:txBody>
      </p:sp>
      <p:sp>
        <p:nvSpPr>
          <p:cNvPr name="TextBox 5" id="5"/>
          <p:cNvSpPr txBox="true"/>
          <p:nvPr/>
        </p:nvSpPr>
        <p:spPr>
          <a:xfrm rot="0">
            <a:off x="4731008" y="494443"/>
            <a:ext cx="1440425" cy="660727"/>
          </a:xfrm>
          <a:prstGeom prst="rect">
            <a:avLst/>
          </a:prstGeom>
        </p:spPr>
        <p:txBody>
          <a:bodyPr anchor="t" rtlCol="false" tIns="0" lIns="0" bIns="0" rIns="0">
            <a:spAutoFit/>
          </a:bodyPr>
          <a:lstStyle/>
          <a:p>
            <a:pPr algn="ctr">
              <a:lnSpc>
                <a:spcPts val="5475"/>
              </a:lnSpc>
              <a:spcBef>
                <a:spcPct val="0"/>
              </a:spcBef>
            </a:pPr>
            <a:r>
              <a:rPr lang="en-US" b="true" sz="3910">
                <a:solidFill>
                  <a:srgbClr val="000000"/>
                </a:solidFill>
                <a:latin typeface="Open Sauce Bold"/>
                <a:ea typeface="Open Sauce Bold"/>
                <a:cs typeface="Open Sauce Bold"/>
                <a:sym typeface="Open Sauce Bold"/>
              </a:rPr>
              <a:t>pdate</a:t>
            </a:r>
          </a:p>
        </p:txBody>
      </p:sp>
      <p:sp>
        <p:nvSpPr>
          <p:cNvPr name="TextBox 6" id="6"/>
          <p:cNvSpPr txBox="true"/>
          <p:nvPr/>
        </p:nvSpPr>
        <p:spPr>
          <a:xfrm rot="0">
            <a:off x="11633197" y="178267"/>
            <a:ext cx="633448" cy="1161892"/>
          </a:xfrm>
          <a:prstGeom prst="rect">
            <a:avLst/>
          </a:prstGeom>
        </p:spPr>
        <p:txBody>
          <a:bodyPr anchor="t" rtlCol="false" tIns="0" lIns="0" bIns="0" rIns="0">
            <a:spAutoFit/>
          </a:bodyPr>
          <a:lstStyle/>
          <a:p>
            <a:pPr algn="ctr">
              <a:lnSpc>
                <a:spcPts val="9591"/>
              </a:lnSpc>
              <a:spcBef>
                <a:spcPct val="0"/>
              </a:spcBef>
            </a:pPr>
            <a:r>
              <a:rPr lang="en-US" b="true" sz="6851">
                <a:solidFill>
                  <a:srgbClr val="F70000"/>
                </a:solidFill>
                <a:latin typeface="Open Sauce Bold"/>
                <a:ea typeface="Open Sauce Bold"/>
                <a:cs typeface="Open Sauce Bold"/>
                <a:sym typeface="Open Sauce Bold"/>
              </a:rPr>
              <a:t>D</a:t>
            </a:r>
          </a:p>
        </p:txBody>
      </p:sp>
      <p:sp>
        <p:nvSpPr>
          <p:cNvPr name="TextBox 7" id="7"/>
          <p:cNvSpPr txBox="true"/>
          <p:nvPr/>
        </p:nvSpPr>
        <p:spPr>
          <a:xfrm rot="0">
            <a:off x="12266646" y="457424"/>
            <a:ext cx="1293868" cy="660727"/>
          </a:xfrm>
          <a:prstGeom prst="rect">
            <a:avLst/>
          </a:prstGeom>
        </p:spPr>
        <p:txBody>
          <a:bodyPr anchor="t" rtlCol="false" tIns="0" lIns="0" bIns="0" rIns="0">
            <a:spAutoFit/>
          </a:bodyPr>
          <a:lstStyle/>
          <a:p>
            <a:pPr algn="ctr">
              <a:lnSpc>
                <a:spcPts val="5475"/>
              </a:lnSpc>
              <a:spcBef>
                <a:spcPct val="0"/>
              </a:spcBef>
            </a:pPr>
            <a:r>
              <a:rPr lang="en-US" b="true" sz="3910">
                <a:solidFill>
                  <a:srgbClr val="000000"/>
                </a:solidFill>
                <a:latin typeface="Open Sauce Bold"/>
                <a:ea typeface="Open Sauce Bold"/>
                <a:cs typeface="Open Sauce Bold"/>
                <a:sym typeface="Open Sauce Bold"/>
              </a:rPr>
              <a:t>elete</a:t>
            </a:r>
          </a:p>
        </p:txBody>
      </p:sp>
      <p:sp>
        <p:nvSpPr>
          <p:cNvPr name="TextBox 8" id="8"/>
          <p:cNvSpPr txBox="true"/>
          <p:nvPr/>
        </p:nvSpPr>
        <p:spPr>
          <a:xfrm rot="0">
            <a:off x="594063" y="9571141"/>
            <a:ext cx="8273891"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Update Employee functionality</a:t>
            </a:r>
          </a:p>
        </p:txBody>
      </p:sp>
      <p:sp>
        <p:nvSpPr>
          <p:cNvPr name="TextBox 9" id="9"/>
          <p:cNvSpPr txBox="true"/>
          <p:nvPr/>
        </p:nvSpPr>
        <p:spPr>
          <a:xfrm rot="0">
            <a:off x="9450476" y="9571141"/>
            <a:ext cx="8220075"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Delete Employee functionality</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1307" y="1335213"/>
            <a:ext cx="6386493" cy="8315428"/>
          </a:xfrm>
          <a:custGeom>
            <a:avLst/>
            <a:gdLst/>
            <a:ahLst/>
            <a:cxnLst/>
            <a:rect r="r" b="b" t="t" l="l"/>
            <a:pathLst>
              <a:path h="8315428" w="6386493">
                <a:moveTo>
                  <a:pt x="0" y="0"/>
                </a:moveTo>
                <a:lnTo>
                  <a:pt x="6386493" y="0"/>
                </a:lnTo>
                <a:lnTo>
                  <a:pt x="6386493" y="8315428"/>
                </a:lnTo>
                <a:lnTo>
                  <a:pt x="0" y="8315428"/>
                </a:lnTo>
                <a:lnTo>
                  <a:pt x="0" y="0"/>
                </a:lnTo>
                <a:close/>
              </a:path>
            </a:pathLst>
          </a:custGeom>
          <a:blipFill>
            <a:blip r:embed="rId2"/>
            <a:stretch>
              <a:fillRect l="0" t="-3802" r="0" b="-3802"/>
            </a:stretch>
          </a:blipFill>
        </p:spPr>
      </p:sp>
      <p:sp>
        <p:nvSpPr>
          <p:cNvPr name="Freeform 3" id="3"/>
          <p:cNvSpPr/>
          <p:nvPr/>
        </p:nvSpPr>
        <p:spPr>
          <a:xfrm flipH="false" flipV="false" rot="0">
            <a:off x="11492239" y="1047061"/>
            <a:ext cx="4399627" cy="8799254"/>
          </a:xfrm>
          <a:custGeom>
            <a:avLst/>
            <a:gdLst/>
            <a:ahLst/>
            <a:cxnLst/>
            <a:rect r="r" b="b" t="t" l="l"/>
            <a:pathLst>
              <a:path h="8799254" w="4399627">
                <a:moveTo>
                  <a:pt x="0" y="0"/>
                </a:moveTo>
                <a:lnTo>
                  <a:pt x="4399627" y="0"/>
                </a:lnTo>
                <a:lnTo>
                  <a:pt x="4399627" y="8799254"/>
                </a:lnTo>
                <a:lnTo>
                  <a:pt x="0" y="8799254"/>
                </a:lnTo>
                <a:lnTo>
                  <a:pt x="0" y="0"/>
                </a:lnTo>
                <a:close/>
              </a:path>
            </a:pathLst>
          </a:custGeom>
          <a:blipFill>
            <a:blip r:embed="rId3"/>
            <a:stretch>
              <a:fillRect l="0" t="0" r="0" b="0"/>
            </a:stretch>
          </a:blipFill>
        </p:spPr>
      </p:sp>
      <p:sp>
        <p:nvSpPr>
          <p:cNvPr name="TextBox 4" id="4"/>
          <p:cNvSpPr txBox="true"/>
          <p:nvPr/>
        </p:nvSpPr>
        <p:spPr>
          <a:xfrm rot="0">
            <a:off x="423964" y="330624"/>
            <a:ext cx="14465057" cy="1004589"/>
          </a:xfrm>
          <a:prstGeom prst="rect">
            <a:avLst/>
          </a:prstGeom>
        </p:spPr>
        <p:txBody>
          <a:bodyPr anchor="t" rtlCol="false" tIns="0" lIns="0" bIns="0" rIns="0">
            <a:spAutoFit/>
          </a:bodyPr>
          <a:lstStyle/>
          <a:p>
            <a:pPr algn="ctr" marL="0" indent="0" lvl="0">
              <a:lnSpc>
                <a:spcPts val="8280"/>
              </a:lnSpc>
              <a:spcBef>
                <a:spcPct val="0"/>
              </a:spcBef>
            </a:pPr>
            <a:r>
              <a:rPr lang="en-US" b="true" sz="5914" strike="noStrike" u="none">
                <a:solidFill>
                  <a:srgbClr val="000000"/>
                </a:solidFill>
                <a:latin typeface="Open Sauce Bold"/>
                <a:ea typeface="Open Sauce Bold"/>
                <a:cs typeface="Open Sauce Bold"/>
                <a:sym typeface="Open Sauce Bold"/>
              </a:rPr>
              <a:t>Conversion of Schedule list to Excel</a:t>
            </a:r>
          </a:p>
        </p:txBody>
      </p:sp>
      <p:sp>
        <p:nvSpPr>
          <p:cNvPr name="TextBox 5" id="5"/>
          <p:cNvSpPr txBox="true"/>
          <p:nvPr/>
        </p:nvSpPr>
        <p:spPr>
          <a:xfrm rot="0">
            <a:off x="4864599" y="9407342"/>
            <a:ext cx="9124950" cy="438973"/>
          </a:xfrm>
          <a:prstGeom prst="rect">
            <a:avLst/>
          </a:prstGeom>
        </p:spPr>
        <p:txBody>
          <a:bodyPr anchor="t" rtlCol="false" tIns="0" lIns="0" bIns="0" rIns="0">
            <a:spAutoFit/>
          </a:bodyPr>
          <a:lstStyle/>
          <a:p>
            <a:pPr algn="ctr" marL="0" indent="0" lvl="0">
              <a:lnSpc>
                <a:spcPts val="3629"/>
              </a:lnSpc>
              <a:spcBef>
                <a:spcPct val="0"/>
              </a:spcBef>
            </a:pPr>
            <a:r>
              <a:rPr lang="en-US" sz="2592" strike="noStrike" u="none">
                <a:solidFill>
                  <a:srgbClr val="000000"/>
                </a:solidFill>
                <a:latin typeface="Open Sauce"/>
                <a:ea typeface="Open Sauce"/>
                <a:cs typeface="Open Sauce"/>
                <a:sym typeface="Open Sauce"/>
              </a:rPr>
              <a:t>Figure: Flowchart for conversion of schedule list to Excel</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4350" y="4504583"/>
            <a:ext cx="17259300" cy="1144485"/>
          </a:xfrm>
          <a:prstGeom prst="rect">
            <a:avLst/>
          </a:prstGeom>
        </p:spPr>
        <p:txBody>
          <a:bodyPr anchor="t" rtlCol="false" tIns="0" lIns="0" bIns="0" rIns="0">
            <a:spAutoFit/>
          </a:bodyPr>
          <a:lstStyle/>
          <a:p>
            <a:pPr algn="ctr">
              <a:lnSpc>
                <a:spcPts val="9368"/>
              </a:lnSpc>
              <a:spcBef>
                <a:spcPct val="0"/>
              </a:spcBef>
            </a:pPr>
            <a:r>
              <a:rPr lang="en-US" b="true" sz="6691">
                <a:solidFill>
                  <a:srgbClr val="000000"/>
                </a:solidFill>
                <a:latin typeface="Open Sauce Bold"/>
                <a:ea typeface="Open Sauce Bold"/>
                <a:cs typeface="Open Sauce Bold"/>
                <a:sym typeface="Open Sauce Bold"/>
              </a:rPr>
              <a:t> RESULTS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28456" y="1490662"/>
            <a:ext cx="16031088" cy="7276020"/>
          </a:xfrm>
          <a:custGeom>
            <a:avLst/>
            <a:gdLst/>
            <a:ahLst/>
            <a:cxnLst/>
            <a:rect r="r" b="b" t="t" l="l"/>
            <a:pathLst>
              <a:path h="7276020" w="16031088">
                <a:moveTo>
                  <a:pt x="0" y="0"/>
                </a:moveTo>
                <a:lnTo>
                  <a:pt x="16031088" y="0"/>
                </a:lnTo>
                <a:lnTo>
                  <a:pt x="16031088" y="7276020"/>
                </a:lnTo>
                <a:lnTo>
                  <a:pt x="0" y="7276020"/>
                </a:lnTo>
                <a:lnTo>
                  <a:pt x="0" y="0"/>
                </a:lnTo>
                <a:close/>
              </a:path>
            </a:pathLst>
          </a:custGeom>
          <a:blipFill>
            <a:blip r:embed="rId2"/>
            <a:stretch>
              <a:fillRect l="-1781" t="0" r="-1371" b="0"/>
            </a:stretch>
          </a:blipFill>
        </p:spPr>
      </p:sp>
      <p:sp>
        <p:nvSpPr>
          <p:cNvPr name="TextBox 3" id="3"/>
          <p:cNvSpPr txBox="true"/>
          <p:nvPr/>
        </p:nvSpPr>
        <p:spPr>
          <a:xfrm rot="0">
            <a:off x="5621952" y="8981210"/>
            <a:ext cx="7044095"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UI snippet : Output Schedule Overview </a:t>
            </a:r>
          </a:p>
        </p:txBody>
      </p:sp>
      <p:sp>
        <p:nvSpPr>
          <p:cNvPr name="TextBox 4" id="4"/>
          <p:cNvSpPr txBox="true"/>
          <p:nvPr/>
        </p:nvSpPr>
        <p:spPr>
          <a:xfrm rot="0">
            <a:off x="5856744" y="537527"/>
            <a:ext cx="6574512" cy="1811020"/>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uce Bold"/>
                <a:ea typeface="Open Sauce Bold"/>
                <a:cs typeface="Open Sauce Bold"/>
                <a:sym typeface="Open Sauce Bold"/>
              </a:rPr>
              <a:t>OUTPUT SCHEDULE</a:t>
            </a:r>
          </a:p>
          <a:p>
            <a:pPr algn="ctr">
              <a:lnSpc>
                <a:spcPts val="7279"/>
              </a:lnSpc>
              <a:spcBef>
                <a:spcPct val="0"/>
              </a:spcBef>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21171" y="2542952"/>
            <a:ext cx="16845658" cy="5201097"/>
          </a:xfrm>
          <a:custGeom>
            <a:avLst/>
            <a:gdLst/>
            <a:ahLst/>
            <a:cxnLst/>
            <a:rect r="r" b="b" t="t" l="l"/>
            <a:pathLst>
              <a:path h="5201097" w="16845658">
                <a:moveTo>
                  <a:pt x="0" y="0"/>
                </a:moveTo>
                <a:lnTo>
                  <a:pt x="16845658" y="0"/>
                </a:lnTo>
                <a:lnTo>
                  <a:pt x="16845658" y="5201096"/>
                </a:lnTo>
                <a:lnTo>
                  <a:pt x="0" y="5201096"/>
                </a:lnTo>
                <a:lnTo>
                  <a:pt x="0" y="0"/>
                </a:lnTo>
                <a:close/>
              </a:path>
            </a:pathLst>
          </a:custGeom>
          <a:blipFill>
            <a:blip r:embed="rId2"/>
            <a:stretch>
              <a:fillRect l="0" t="0" r="0" b="0"/>
            </a:stretch>
          </a:blipFill>
        </p:spPr>
      </p:sp>
      <p:sp>
        <p:nvSpPr>
          <p:cNvPr name="TextBox 3" id="3"/>
          <p:cNvSpPr txBox="true"/>
          <p:nvPr/>
        </p:nvSpPr>
        <p:spPr>
          <a:xfrm rot="0">
            <a:off x="2720528" y="537527"/>
            <a:ext cx="12846944" cy="1811020"/>
          </a:xfrm>
          <a:prstGeom prst="rect">
            <a:avLst/>
          </a:prstGeom>
        </p:spPr>
        <p:txBody>
          <a:bodyPr anchor="t" rtlCol="false" tIns="0" lIns="0" bIns="0" rIns="0">
            <a:spAutoFit/>
          </a:bodyPr>
          <a:lstStyle/>
          <a:p>
            <a:pPr algn="ctr">
              <a:lnSpc>
                <a:spcPts val="7279"/>
              </a:lnSpc>
            </a:pPr>
            <a:r>
              <a:rPr lang="en-US" sz="5199" b="true">
                <a:solidFill>
                  <a:srgbClr val="000000"/>
                </a:solidFill>
                <a:latin typeface="Open Sauce Bold"/>
                <a:ea typeface="Open Sauce Bold"/>
                <a:cs typeface="Open Sauce Bold"/>
                <a:sym typeface="Open Sauce Bold"/>
              </a:rPr>
              <a:t>OUTPUT SCHEDULE IN EXCEL FORMAT</a:t>
            </a:r>
          </a:p>
          <a:p>
            <a:pPr algn="ctr">
              <a:lnSpc>
                <a:spcPts val="7279"/>
              </a:lnSpc>
              <a:spcBef>
                <a:spcPct val="0"/>
              </a:spcBef>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782726"/>
            <a:ext cx="16230600" cy="6167628"/>
          </a:xfrm>
          <a:custGeom>
            <a:avLst/>
            <a:gdLst/>
            <a:ahLst/>
            <a:cxnLst/>
            <a:rect r="r" b="b" t="t" l="l"/>
            <a:pathLst>
              <a:path h="6167628" w="16230600">
                <a:moveTo>
                  <a:pt x="0" y="0"/>
                </a:moveTo>
                <a:lnTo>
                  <a:pt x="16230600" y="0"/>
                </a:lnTo>
                <a:lnTo>
                  <a:pt x="16230600" y="6167628"/>
                </a:lnTo>
                <a:lnTo>
                  <a:pt x="0" y="6167628"/>
                </a:lnTo>
                <a:lnTo>
                  <a:pt x="0" y="0"/>
                </a:lnTo>
                <a:close/>
              </a:path>
            </a:pathLst>
          </a:custGeom>
          <a:blipFill>
            <a:blip r:embed="rId2"/>
            <a:stretch>
              <a:fillRect l="0" t="0" r="0" b="0"/>
            </a:stretch>
          </a:blipFill>
        </p:spPr>
      </p:sp>
      <p:sp>
        <p:nvSpPr>
          <p:cNvPr name="TextBox 3" id="3"/>
          <p:cNvSpPr txBox="true"/>
          <p:nvPr/>
        </p:nvSpPr>
        <p:spPr>
          <a:xfrm rot="0">
            <a:off x="4789289" y="537527"/>
            <a:ext cx="870942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EMPLOYEE INPUT PORTAL</a:t>
            </a:r>
          </a:p>
        </p:txBody>
      </p:sp>
      <p:sp>
        <p:nvSpPr>
          <p:cNvPr name="TextBox 4" id="4"/>
          <p:cNvSpPr txBox="true"/>
          <p:nvPr/>
        </p:nvSpPr>
        <p:spPr>
          <a:xfrm rot="0">
            <a:off x="5851445" y="8761270"/>
            <a:ext cx="6585109"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UI snippet: Employee Input overview</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98552" y="1655896"/>
            <a:ext cx="11690897" cy="7162524"/>
          </a:xfrm>
          <a:custGeom>
            <a:avLst/>
            <a:gdLst/>
            <a:ahLst/>
            <a:cxnLst/>
            <a:rect r="r" b="b" t="t" l="l"/>
            <a:pathLst>
              <a:path h="7162524" w="11690897">
                <a:moveTo>
                  <a:pt x="0" y="0"/>
                </a:moveTo>
                <a:lnTo>
                  <a:pt x="11690896" y="0"/>
                </a:lnTo>
                <a:lnTo>
                  <a:pt x="11690896" y="7162524"/>
                </a:lnTo>
                <a:lnTo>
                  <a:pt x="0" y="7162524"/>
                </a:lnTo>
                <a:lnTo>
                  <a:pt x="0" y="0"/>
                </a:lnTo>
                <a:close/>
              </a:path>
            </a:pathLst>
          </a:custGeom>
          <a:blipFill>
            <a:blip r:embed="rId2"/>
            <a:stretch>
              <a:fillRect l="-69300" t="-82330" r="-70942" b="-38243"/>
            </a:stretch>
          </a:blipFill>
        </p:spPr>
      </p:sp>
      <p:sp>
        <p:nvSpPr>
          <p:cNvPr name="TextBox 3" id="3"/>
          <p:cNvSpPr txBox="true"/>
          <p:nvPr/>
        </p:nvSpPr>
        <p:spPr>
          <a:xfrm rot="0">
            <a:off x="5596890" y="537527"/>
            <a:ext cx="7094220"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SHIFT SWAP PORTAL</a:t>
            </a:r>
          </a:p>
        </p:txBody>
      </p:sp>
      <p:sp>
        <p:nvSpPr>
          <p:cNvPr name="TextBox 4" id="4"/>
          <p:cNvSpPr txBox="true"/>
          <p:nvPr/>
        </p:nvSpPr>
        <p:spPr>
          <a:xfrm rot="0">
            <a:off x="6314242" y="8981210"/>
            <a:ext cx="5659517"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UI snippet: Shift Swap overview</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98595" y="1759356"/>
            <a:ext cx="15490809" cy="7059064"/>
          </a:xfrm>
          <a:custGeom>
            <a:avLst/>
            <a:gdLst/>
            <a:ahLst/>
            <a:cxnLst/>
            <a:rect r="r" b="b" t="t" l="l"/>
            <a:pathLst>
              <a:path h="7059064" w="15490809">
                <a:moveTo>
                  <a:pt x="0" y="0"/>
                </a:moveTo>
                <a:lnTo>
                  <a:pt x="15490810" y="0"/>
                </a:lnTo>
                <a:lnTo>
                  <a:pt x="15490810" y="7059064"/>
                </a:lnTo>
                <a:lnTo>
                  <a:pt x="0" y="7059064"/>
                </a:lnTo>
                <a:lnTo>
                  <a:pt x="0" y="0"/>
                </a:lnTo>
                <a:close/>
              </a:path>
            </a:pathLst>
          </a:custGeom>
          <a:blipFill>
            <a:blip r:embed="rId2"/>
            <a:stretch>
              <a:fillRect l="0" t="-335" r="0" b="-335"/>
            </a:stretch>
          </a:blipFill>
        </p:spPr>
      </p:sp>
      <p:sp>
        <p:nvSpPr>
          <p:cNvPr name="TextBox 3" id="3"/>
          <p:cNvSpPr txBox="true"/>
          <p:nvPr/>
        </p:nvSpPr>
        <p:spPr>
          <a:xfrm rot="0">
            <a:off x="2715021" y="487433"/>
            <a:ext cx="13025438"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EMPLOYEE RECORDS DISPLAY PORTAL</a:t>
            </a:r>
          </a:p>
        </p:txBody>
      </p:sp>
      <p:sp>
        <p:nvSpPr>
          <p:cNvPr name="TextBox 4" id="4"/>
          <p:cNvSpPr txBox="true"/>
          <p:nvPr/>
        </p:nvSpPr>
        <p:spPr>
          <a:xfrm rot="0">
            <a:off x="5594390" y="9142270"/>
            <a:ext cx="7099221"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UI snippet: Employee Records overview</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01521" y="1593136"/>
            <a:ext cx="5857634" cy="6173984"/>
          </a:xfrm>
          <a:custGeom>
            <a:avLst/>
            <a:gdLst/>
            <a:ahLst/>
            <a:cxnLst/>
            <a:rect r="r" b="b" t="t" l="l"/>
            <a:pathLst>
              <a:path h="6173984" w="5857634">
                <a:moveTo>
                  <a:pt x="0" y="0"/>
                </a:moveTo>
                <a:lnTo>
                  <a:pt x="5857634" y="0"/>
                </a:lnTo>
                <a:lnTo>
                  <a:pt x="5857634" y="6173984"/>
                </a:lnTo>
                <a:lnTo>
                  <a:pt x="0" y="6173984"/>
                </a:lnTo>
                <a:lnTo>
                  <a:pt x="0" y="0"/>
                </a:lnTo>
                <a:close/>
              </a:path>
            </a:pathLst>
          </a:custGeom>
          <a:blipFill>
            <a:blip r:embed="rId2"/>
            <a:stretch>
              <a:fillRect l="-2700" t="0" r="-2700" b="0"/>
            </a:stretch>
          </a:blipFill>
        </p:spPr>
      </p:sp>
      <p:sp>
        <p:nvSpPr>
          <p:cNvPr name="Freeform 3" id="3"/>
          <p:cNvSpPr/>
          <p:nvPr/>
        </p:nvSpPr>
        <p:spPr>
          <a:xfrm flipH="false" flipV="false" rot="0">
            <a:off x="1584464" y="1593136"/>
            <a:ext cx="5992128" cy="6173984"/>
          </a:xfrm>
          <a:custGeom>
            <a:avLst/>
            <a:gdLst/>
            <a:ahLst/>
            <a:cxnLst/>
            <a:rect r="r" b="b" t="t" l="l"/>
            <a:pathLst>
              <a:path h="6173984" w="5992128">
                <a:moveTo>
                  <a:pt x="0" y="0"/>
                </a:moveTo>
                <a:lnTo>
                  <a:pt x="5992128" y="0"/>
                </a:lnTo>
                <a:lnTo>
                  <a:pt x="5992128" y="6173984"/>
                </a:lnTo>
                <a:lnTo>
                  <a:pt x="0" y="6173984"/>
                </a:lnTo>
                <a:lnTo>
                  <a:pt x="0" y="0"/>
                </a:lnTo>
                <a:close/>
              </a:path>
            </a:pathLst>
          </a:custGeom>
          <a:blipFill>
            <a:blip r:embed="rId3"/>
            <a:stretch>
              <a:fillRect l="-27" t="0" r="-27" b="0"/>
            </a:stretch>
          </a:blipFill>
        </p:spPr>
      </p:sp>
      <p:sp>
        <p:nvSpPr>
          <p:cNvPr name="TextBox 4" id="4"/>
          <p:cNvSpPr txBox="true"/>
          <p:nvPr/>
        </p:nvSpPr>
        <p:spPr>
          <a:xfrm rot="0">
            <a:off x="9139238" y="4819967"/>
            <a:ext cx="9525" cy="580390"/>
          </a:xfrm>
          <a:prstGeom prst="rect">
            <a:avLst/>
          </a:prstGeom>
        </p:spPr>
        <p:txBody>
          <a:bodyPr anchor="t" rtlCol="false" tIns="0" lIns="0" bIns="0" rIns="0">
            <a:spAutoFit/>
          </a:bodyPr>
          <a:lstStyle/>
          <a:p>
            <a:pPr algn="ctr">
              <a:lnSpc>
                <a:spcPts val="4759"/>
              </a:lnSpc>
            </a:pPr>
          </a:p>
        </p:txBody>
      </p:sp>
      <p:sp>
        <p:nvSpPr>
          <p:cNvPr name="TextBox 5" id="5"/>
          <p:cNvSpPr txBox="true"/>
          <p:nvPr/>
        </p:nvSpPr>
        <p:spPr>
          <a:xfrm rot="0">
            <a:off x="2257083" y="487433"/>
            <a:ext cx="4646890"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SIGNUP PAGE</a:t>
            </a:r>
          </a:p>
        </p:txBody>
      </p:sp>
      <p:sp>
        <p:nvSpPr>
          <p:cNvPr name="TextBox 6" id="6"/>
          <p:cNvSpPr txBox="true"/>
          <p:nvPr/>
        </p:nvSpPr>
        <p:spPr>
          <a:xfrm rot="0">
            <a:off x="10848887" y="537527"/>
            <a:ext cx="4162901"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LOGIN PAGE</a:t>
            </a:r>
          </a:p>
        </p:txBody>
      </p:sp>
      <p:sp>
        <p:nvSpPr>
          <p:cNvPr name="TextBox 7" id="7"/>
          <p:cNvSpPr txBox="true"/>
          <p:nvPr/>
        </p:nvSpPr>
        <p:spPr>
          <a:xfrm rot="0">
            <a:off x="10568197" y="8482450"/>
            <a:ext cx="4724281"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UI snippet: Login overview</a:t>
            </a:r>
          </a:p>
        </p:txBody>
      </p:sp>
      <p:sp>
        <p:nvSpPr>
          <p:cNvPr name="TextBox 8" id="8"/>
          <p:cNvSpPr txBox="true"/>
          <p:nvPr/>
        </p:nvSpPr>
        <p:spPr>
          <a:xfrm rot="0">
            <a:off x="2091407" y="8482450"/>
            <a:ext cx="4978241"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UI snippet: Signup overview</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9897" y="2512289"/>
            <a:ext cx="17914631" cy="5262423"/>
          </a:xfrm>
          <a:custGeom>
            <a:avLst/>
            <a:gdLst/>
            <a:ahLst/>
            <a:cxnLst/>
            <a:rect r="r" b="b" t="t" l="l"/>
            <a:pathLst>
              <a:path h="5262423" w="17914631">
                <a:moveTo>
                  <a:pt x="0" y="0"/>
                </a:moveTo>
                <a:lnTo>
                  <a:pt x="17914631" y="0"/>
                </a:lnTo>
                <a:lnTo>
                  <a:pt x="17914631" y="5262422"/>
                </a:lnTo>
                <a:lnTo>
                  <a:pt x="0" y="5262422"/>
                </a:lnTo>
                <a:lnTo>
                  <a:pt x="0" y="0"/>
                </a:lnTo>
                <a:close/>
              </a:path>
            </a:pathLst>
          </a:custGeom>
          <a:blipFill>
            <a:blip r:embed="rId2"/>
            <a:stretch>
              <a:fillRect l="0" t="0" r="0" b="0"/>
            </a:stretch>
          </a:blipFill>
        </p:spPr>
      </p:sp>
      <p:sp>
        <p:nvSpPr>
          <p:cNvPr name="TextBox 3" id="3"/>
          <p:cNvSpPr txBox="true"/>
          <p:nvPr/>
        </p:nvSpPr>
        <p:spPr>
          <a:xfrm rot="0">
            <a:off x="4738841" y="1229471"/>
            <a:ext cx="8113752"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EMPLOYEE ADD PORTAL</a:t>
            </a:r>
          </a:p>
        </p:txBody>
      </p:sp>
      <p:sp>
        <p:nvSpPr>
          <p:cNvPr name="TextBox 4" id="4"/>
          <p:cNvSpPr txBox="true"/>
          <p:nvPr/>
        </p:nvSpPr>
        <p:spPr>
          <a:xfrm rot="0">
            <a:off x="5620022" y="8508076"/>
            <a:ext cx="6351389"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UI snippet: Employee Add overview</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550749"/>
            <a:ext cx="6736318" cy="6574242"/>
          </a:xfrm>
          <a:custGeom>
            <a:avLst/>
            <a:gdLst/>
            <a:ahLst/>
            <a:cxnLst/>
            <a:rect r="r" b="b" t="t" l="l"/>
            <a:pathLst>
              <a:path h="6574242" w="6736318">
                <a:moveTo>
                  <a:pt x="0" y="0"/>
                </a:moveTo>
                <a:lnTo>
                  <a:pt x="6736318" y="0"/>
                </a:lnTo>
                <a:lnTo>
                  <a:pt x="6736318" y="6574242"/>
                </a:lnTo>
                <a:lnTo>
                  <a:pt x="0" y="6574242"/>
                </a:lnTo>
                <a:lnTo>
                  <a:pt x="0" y="0"/>
                </a:lnTo>
                <a:close/>
              </a:path>
            </a:pathLst>
          </a:custGeom>
          <a:blipFill>
            <a:blip r:embed="rId2"/>
            <a:stretch>
              <a:fillRect l="0" t="0" r="0" b="0"/>
            </a:stretch>
          </a:blipFill>
        </p:spPr>
      </p:sp>
      <p:sp>
        <p:nvSpPr>
          <p:cNvPr name="Freeform 3" id="3"/>
          <p:cNvSpPr/>
          <p:nvPr/>
        </p:nvSpPr>
        <p:spPr>
          <a:xfrm flipH="false" flipV="false" rot="0">
            <a:off x="9917002" y="1550749"/>
            <a:ext cx="7342298" cy="6377376"/>
          </a:xfrm>
          <a:custGeom>
            <a:avLst/>
            <a:gdLst/>
            <a:ahLst/>
            <a:cxnLst/>
            <a:rect r="r" b="b" t="t" l="l"/>
            <a:pathLst>
              <a:path h="6377376" w="7342298">
                <a:moveTo>
                  <a:pt x="0" y="0"/>
                </a:moveTo>
                <a:lnTo>
                  <a:pt x="7342298" y="0"/>
                </a:lnTo>
                <a:lnTo>
                  <a:pt x="7342298" y="6377376"/>
                </a:lnTo>
                <a:lnTo>
                  <a:pt x="0" y="6377376"/>
                </a:lnTo>
                <a:lnTo>
                  <a:pt x="0" y="0"/>
                </a:lnTo>
                <a:close/>
              </a:path>
            </a:pathLst>
          </a:custGeom>
          <a:blipFill>
            <a:blip r:embed="rId3"/>
            <a:stretch>
              <a:fillRect l="0" t="-554" r="-14010" b="-554"/>
            </a:stretch>
          </a:blipFill>
        </p:spPr>
      </p:sp>
      <p:sp>
        <p:nvSpPr>
          <p:cNvPr name="TextBox 4" id="4"/>
          <p:cNvSpPr txBox="true"/>
          <p:nvPr/>
        </p:nvSpPr>
        <p:spPr>
          <a:xfrm rot="0">
            <a:off x="1028700" y="361456"/>
            <a:ext cx="6736318"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ADMIN DASHBOARD</a:t>
            </a:r>
          </a:p>
        </p:txBody>
      </p:sp>
      <p:sp>
        <p:nvSpPr>
          <p:cNvPr name="TextBox 5" id="5"/>
          <p:cNvSpPr txBox="true"/>
          <p:nvPr/>
        </p:nvSpPr>
        <p:spPr>
          <a:xfrm rot="0">
            <a:off x="11583533" y="361456"/>
            <a:ext cx="3653790"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SEND MAIL</a:t>
            </a:r>
          </a:p>
        </p:txBody>
      </p:sp>
      <p:sp>
        <p:nvSpPr>
          <p:cNvPr name="TextBox 6" id="6"/>
          <p:cNvSpPr txBox="true"/>
          <p:nvPr/>
        </p:nvSpPr>
        <p:spPr>
          <a:xfrm rot="0">
            <a:off x="1169789" y="8724035"/>
            <a:ext cx="6454140" cy="1011380"/>
          </a:xfrm>
          <a:prstGeom prst="rect">
            <a:avLst/>
          </a:prstGeom>
        </p:spPr>
        <p:txBody>
          <a:bodyPr anchor="t" rtlCol="false" tIns="0" lIns="0" bIns="0" rIns="0">
            <a:spAutoFit/>
          </a:bodyPr>
          <a:lstStyle/>
          <a:p>
            <a:pPr algn="ctr">
              <a:lnSpc>
                <a:spcPts val="4104"/>
              </a:lnSpc>
            </a:pPr>
            <a:r>
              <a:rPr lang="en-US" sz="2931">
                <a:solidFill>
                  <a:srgbClr val="000000"/>
                </a:solidFill>
                <a:latin typeface="Canva Sans"/>
                <a:ea typeface="Canva Sans"/>
                <a:cs typeface="Canva Sans"/>
                <a:sym typeface="Canva Sans"/>
              </a:rPr>
              <a:t>Backend Snippet: Admin Dashboard</a:t>
            </a:r>
          </a:p>
          <a:p>
            <a:pPr algn="ctr">
              <a:lnSpc>
                <a:spcPts val="4104"/>
              </a:lnSpc>
              <a:spcBef>
                <a:spcPct val="0"/>
              </a:spcBef>
            </a:pPr>
            <a:r>
              <a:rPr lang="en-US" sz="2931">
                <a:solidFill>
                  <a:srgbClr val="000000"/>
                </a:solidFill>
                <a:latin typeface="Canva Sans"/>
                <a:ea typeface="Canva Sans"/>
                <a:cs typeface="Canva Sans"/>
                <a:sym typeface="Canva Sans"/>
              </a:rPr>
              <a:t> overview</a:t>
            </a:r>
          </a:p>
        </p:txBody>
      </p:sp>
      <p:sp>
        <p:nvSpPr>
          <p:cNvPr name="TextBox 7" id="7"/>
          <p:cNvSpPr txBox="true"/>
          <p:nvPr/>
        </p:nvSpPr>
        <p:spPr>
          <a:xfrm rot="0">
            <a:off x="10920533" y="8724035"/>
            <a:ext cx="4979789" cy="1011380"/>
          </a:xfrm>
          <a:prstGeom prst="rect">
            <a:avLst/>
          </a:prstGeom>
        </p:spPr>
        <p:txBody>
          <a:bodyPr anchor="t" rtlCol="false" tIns="0" lIns="0" bIns="0" rIns="0">
            <a:spAutoFit/>
          </a:bodyPr>
          <a:lstStyle/>
          <a:p>
            <a:pPr algn="ctr">
              <a:lnSpc>
                <a:spcPts val="4104"/>
              </a:lnSpc>
            </a:pPr>
            <a:r>
              <a:rPr lang="en-US" sz="2931">
                <a:solidFill>
                  <a:srgbClr val="000000"/>
                </a:solidFill>
                <a:latin typeface="Canva Sans"/>
                <a:ea typeface="Canva Sans"/>
                <a:cs typeface="Canva Sans"/>
                <a:sym typeface="Canva Sans"/>
              </a:rPr>
              <a:t>Backend Snippet: Send Mail</a:t>
            </a:r>
          </a:p>
          <a:p>
            <a:pPr algn="ctr">
              <a:lnSpc>
                <a:spcPts val="4104"/>
              </a:lnSpc>
              <a:spcBef>
                <a:spcPct val="0"/>
              </a:spcBef>
            </a:pPr>
            <a:r>
              <a:rPr lang="en-US" sz="2931">
                <a:solidFill>
                  <a:srgbClr val="000000"/>
                </a:solidFill>
                <a:latin typeface="Canva Sans"/>
                <a:ea typeface="Canva Sans"/>
                <a:cs typeface="Canva Sans"/>
                <a:sym typeface="Canva Sans"/>
              </a:rPr>
              <a:t> overview</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682424"/>
            <a:ext cx="16230600" cy="6746682"/>
          </a:xfrm>
          <a:custGeom>
            <a:avLst/>
            <a:gdLst/>
            <a:ahLst/>
            <a:cxnLst/>
            <a:rect r="r" b="b" t="t" l="l"/>
            <a:pathLst>
              <a:path h="6746682" w="16230600">
                <a:moveTo>
                  <a:pt x="0" y="0"/>
                </a:moveTo>
                <a:lnTo>
                  <a:pt x="16230600" y="0"/>
                </a:lnTo>
                <a:lnTo>
                  <a:pt x="16230600" y="6746682"/>
                </a:lnTo>
                <a:lnTo>
                  <a:pt x="0" y="6746682"/>
                </a:lnTo>
                <a:lnTo>
                  <a:pt x="0" y="0"/>
                </a:lnTo>
                <a:close/>
              </a:path>
            </a:pathLst>
          </a:custGeom>
          <a:blipFill>
            <a:blip r:embed="rId2"/>
            <a:stretch>
              <a:fillRect l="0" t="0" r="0" b="-12467"/>
            </a:stretch>
          </a:blipFill>
        </p:spPr>
      </p:sp>
      <p:sp>
        <p:nvSpPr>
          <p:cNvPr name="TextBox 3" id="3"/>
          <p:cNvSpPr txBox="true"/>
          <p:nvPr/>
        </p:nvSpPr>
        <p:spPr>
          <a:xfrm rot="0">
            <a:off x="3599277" y="487433"/>
            <a:ext cx="10889933"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Open Sauce Bold"/>
                <a:ea typeface="Open Sauce Bold"/>
                <a:cs typeface="Open Sauce Bold"/>
                <a:sym typeface="Open Sauce Bold"/>
              </a:rPr>
              <a:t>PROGESS TRACKING USING JIRA</a:t>
            </a:r>
          </a:p>
        </p:txBody>
      </p:sp>
      <p:sp>
        <p:nvSpPr>
          <p:cNvPr name="TextBox 4" id="4"/>
          <p:cNvSpPr txBox="true"/>
          <p:nvPr/>
        </p:nvSpPr>
        <p:spPr>
          <a:xfrm rot="0">
            <a:off x="4592272" y="8981210"/>
            <a:ext cx="8903944" cy="497030"/>
          </a:xfrm>
          <a:prstGeom prst="rect">
            <a:avLst/>
          </a:prstGeom>
        </p:spPr>
        <p:txBody>
          <a:bodyPr anchor="t" rtlCol="false" tIns="0" lIns="0" bIns="0" rIns="0">
            <a:spAutoFit/>
          </a:bodyPr>
          <a:lstStyle/>
          <a:p>
            <a:pPr algn="ctr">
              <a:lnSpc>
                <a:spcPts val="4104"/>
              </a:lnSpc>
              <a:spcBef>
                <a:spcPct val="0"/>
              </a:spcBef>
            </a:pPr>
            <a:r>
              <a:rPr lang="en-US" sz="2931">
                <a:solidFill>
                  <a:srgbClr val="000000"/>
                </a:solidFill>
                <a:latin typeface="Canva Sans"/>
                <a:ea typeface="Canva Sans"/>
                <a:cs typeface="Canva Sans"/>
                <a:sym typeface="Canva Sans"/>
              </a:rPr>
              <a:t>Snippet: Progress Tracking overview</a:t>
            </a:r>
          </a:p>
        </p:txBody>
      </p:sp>
    </p:spTree>
  </p:cSld>
  <p:clrMapOvr>
    <a:masterClrMapping/>
  </p:clrMapOvr>
</p:sld>
</file>

<file path=ppt/slides/slide4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4350" y="895350"/>
            <a:ext cx="17259300" cy="1144485"/>
          </a:xfrm>
          <a:prstGeom prst="rect">
            <a:avLst/>
          </a:prstGeom>
        </p:spPr>
        <p:txBody>
          <a:bodyPr anchor="t" rtlCol="false" tIns="0" lIns="0" bIns="0" rIns="0">
            <a:spAutoFit/>
          </a:bodyPr>
          <a:lstStyle/>
          <a:p>
            <a:pPr algn="ctr">
              <a:lnSpc>
                <a:spcPts val="9368"/>
              </a:lnSpc>
              <a:spcBef>
                <a:spcPct val="0"/>
              </a:spcBef>
            </a:pPr>
            <a:r>
              <a:rPr lang="en-US" b="true" sz="6691">
                <a:solidFill>
                  <a:srgbClr val="000000"/>
                </a:solidFill>
                <a:latin typeface="Open Sauce Bold"/>
                <a:ea typeface="Open Sauce Bold"/>
                <a:cs typeface="Open Sauce Bold"/>
                <a:sym typeface="Open Sauce Bold"/>
              </a:rPr>
              <a:t>CONCLUSION </a:t>
            </a:r>
          </a:p>
        </p:txBody>
      </p:sp>
      <p:sp>
        <p:nvSpPr>
          <p:cNvPr name="TextBox 3" id="3"/>
          <p:cNvSpPr txBox="true"/>
          <p:nvPr/>
        </p:nvSpPr>
        <p:spPr>
          <a:xfrm rot="0">
            <a:off x="1028700" y="3745124"/>
            <a:ext cx="16230600" cy="3406353"/>
          </a:xfrm>
          <a:prstGeom prst="rect">
            <a:avLst/>
          </a:prstGeom>
        </p:spPr>
        <p:txBody>
          <a:bodyPr anchor="t" rtlCol="false" tIns="0" lIns="0" bIns="0" rIns="0">
            <a:spAutoFit/>
          </a:bodyPr>
          <a:lstStyle/>
          <a:p>
            <a:pPr algn="ctr">
              <a:lnSpc>
                <a:spcPts val="5448"/>
              </a:lnSpc>
              <a:spcBef>
                <a:spcPct val="0"/>
              </a:spcBef>
            </a:pPr>
            <a:r>
              <a:rPr lang="en-US" sz="3891">
                <a:solidFill>
                  <a:srgbClr val="000000"/>
                </a:solidFill>
                <a:latin typeface="Open Sauce"/>
                <a:ea typeface="Open Sauce"/>
                <a:cs typeface="Open Sauce"/>
                <a:sym typeface="Open Sauce"/>
              </a:rPr>
              <a:t>The Shift Allocation System has proven to be an effective workforce management tool by automating shift assignments and enhancing operational productivity. By minimizing manual workload and ensuring fair shift distribution, the system significantly improves workforce efficiency and scheduling accuracy.</a:t>
            </a:r>
          </a:p>
        </p:txBody>
      </p:sp>
    </p:spTree>
  </p:cSld>
  <p:clrMapOvr>
    <a:masterClrMapping/>
  </p:clrMapOvr>
</p:sld>
</file>

<file path=ppt/slides/slide4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178272" y="4462037"/>
            <a:ext cx="5931456"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THANK YOU !</a:t>
            </a:r>
          </a:p>
        </p:txBody>
      </p:sp>
    </p:spTree>
  </p:cSld>
  <p:clrMapOvr>
    <a:masterClrMapping/>
  </p:clrMapOvr>
</p:sld>
</file>

<file path=ppt/slides/slide5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062895" y="4462037"/>
            <a:ext cx="8162211" cy="1220050"/>
          </a:xfrm>
          <a:prstGeom prst="rect">
            <a:avLst/>
          </a:prstGeom>
        </p:spPr>
        <p:txBody>
          <a:bodyPr anchor="t" rtlCol="false" tIns="0" lIns="0" bIns="0" rIns="0">
            <a:spAutoFit/>
          </a:bodyPr>
          <a:lstStyle/>
          <a:p>
            <a:pPr algn="ctr">
              <a:lnSpc>
                <a:spcPts val="9928"/>
              </a:lnSpc>
              <a:spcBef>
                <a:spcPct val="0"/>
              </a:spcBef>
            </a:pPr>
            <a:r>
              <a:rPr lang="en-US" b="true" sz="7091">
                <a:solidFill>
                  <a:srgbClr val="000000"/>
                </a:solidFill>
                <a:latin typeface="Open Sauce Bold"/>
                <a:ea typeface="Open Sauce Bold"/>
                <a:cs typeface="Open Sauce Bold"/>
                <a:sym typeface="Open Sauce Bold"/>
              </a:rPr>
              <a:t>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DAGg8ODujvo</dc:identifier>
  <dcterms:modified xsi:type="dcterms:W3CDTF">2011-08-01T06:04:30Z</dcterms:modified>
  <cp:revision>1</cp:revision>
  <dc:title>SAS PRESENTATION</dc:title>
</cp:coreProperties>
</file>